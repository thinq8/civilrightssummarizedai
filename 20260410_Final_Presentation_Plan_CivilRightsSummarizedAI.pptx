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[LIAM — 0:30 — opens the talk, stands center, clicker in hand]</a:t>
            </a:r>
          </a:p>
          <a:p/>
          <a:p>
            <a:r>
              <a:t>"Good afternoon. I'm Liam, and with me are Nick, Ishmail, and Jayant. We are the Civil Rights Summarized AI team, and this semester we worked with the Civil Rights Litigation Clearinghouse at the University of Michigan Law School on a question that sounds simple but is not: can a language model help summarize a civil rights lawsuit — without losing the accuracy the law requires?"</a:t>
            </a:r>
          </a:p>
          <a:p/>
          <a:p>
            <a:r>
              <a:t>Beat. Click.</a:t>
            </a:r>
          </a:p>
          <a:p/>
          <a:p>
            <a:r>
              <a:t>"In the next five minutes we'll show you why that problem is hard, what we built, and what we're handing back to the Clearinghouse."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 0:45 — steps forward as Liam yields]</a:t>
            </a:r>
          </a:p>
          <a:p/>
          <a:p>
            <a:r>
              <a:t>"The Civil Rights Litigation Clearinghouse has catalogued more than ten thousand federal civil rights cases since 2002 — school desegregation, prison conditions, police misconduct, voting rights. For every single one of those cases, a human being sits down and writes a detailed summary by hand."</a:t>
            </a:r>
          </a:p>
          <a:p/>
          <a:p>
            <a:r>
              <a:t>"There are three reasons that matters for us. First, scale: a single case can have hundreds of filings, and the backlog keeps growing. Second, stakes: researchers, journalists, and civil rights attorneys rely on these summaries — getting it wrong is not an option. And third, opportunity: if we can build an assistive tool the Clearinghouse actually trusts, staff get their time back to focus on the legal review only a human can do."</a:t>
            </a:r>
          </a:p>
          <a:p/>
          <a:p>
            <a:r>
              <a:t>[Hand off to Nick with a glance]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[ISHMAIL — continues — 0:30]</a:t>
            </a:r>
          </a:p>
          <a:p/>
          <a:p>
            <a:r>
              <a:t>"Our partner is the Civil Rights Litigation Clearinghouse at the University of Michigan Law School — the largest public archive of federal civil rights litigation in the country. When you search for a case on school desegregation or prison conditions, chances are you are reading a Clearinghouse summary."</a:t>
            </a:r>
          </a:p>
          <a:p/>
          <a:p>
            <a:r>
              <a:t>"They came to us with a very specific ask — and I'll read it because it framed everything we did: 'Can an AI help us summarize cases without getting the law wrong?' That second half is the whole game. An assistant that's fast but sloppy is useless to them. So our job was to build something accurate, reproducible, and deployable on their own infrastructure — not a cloud API they don't control."</a:t>
            </a:r>
          </a:p>
          <a:p/>
          <a:p>
            <a:r>
              <a:t>[Hand to Nick]</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0:30]</a:t>
            </a:r>
          </a:p>
          <a:p/>
          <a:p>
            <a:r>
              <a:t>"Here's the whole system on one slide. Four stages — Ingest, Prepare, Fine-tune, Evaluate."</a:t>
            </a:r>
          </a:p>
          <a:p/>
          <a:p>
            <a:r>
              <a:t>"Stage one, Ingest. We built a resilient pipeline that pulls normalized case records from the Clearinghouse API, with checkpoint-based resume so a three-hour run survives a dropped connection."</a:t>
            </a:r>
          </a:p>
          <a:p/>
          <a:p>
            <a:r>
              <a:t>"Stage two, Prepare — and this is where we had to solve a real problem, which I'll show you on the next slide."</a:t>
            </a:r>
          </a:p>
          <a:p/>
          <a:p>
            <a:r>
              <a:t>"Stage three, Fine-tune. We LoRA fine-tuned Qwen2.5-7B-Instruct on almost ten thousand examples."</a:t>
            </a:r>
          </a:p>
          <a:p/>
          <a:p>
            <a:r>
              <a:t>"Stage four, Evaluate. Three metrics — ROUGE, BERTScore, and an LLM-as-Judge — scoring every summary on the legal dimensions the Clearinghouse cares about."</a:t>
            </a:r>
          </a:p>
          <a:p/>
          <a:p>
            <a:r>
              <a:t>"Every stage is reproducible from the repo we're handing back. Click."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0:45]</a:t>
            </a:r>
          </a:p>
          <a:p/>
          <a:p>
            <a:r>
              <a:t>"Here's the problem we actually had to solve. A legal case isn't one document — it's a collection. The median case in our data has 11.6 documents, and the biggest one we found had 405. If you just concatenate them, the median case is 27 thousand tokens, and only 55% of them even fit inside the model's 32 thousand token context window."</a:t>
            </a:r>
          </a:p>
          <a:p/>
          <a:p>
            <a:r>
              <a:t>Point at the visual on the right.</a:t>
            </a:r>
          </a:p>
          <a:p/>
          <a:p>
            <a:r>
              <a:t>"When we ignored this and trained on the raw data, the model drowned. Our first training run saw loss spike past 5,000 and evaluation loss go to NaN — the model could not learn anything useful because half the data was being silently truncated."</a:t>
            </a:r>
          </a:p>
          <a:p/>
          <a:p>
            <a:r>
              <a:t>"So before we could fine-tune, we had to fix the data. That's the next slide."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0:30]</a:t>
            </a:r>
          </a:p>
          <a:p/>
          <a:p>
            <a:r>
              <a:t>"Here's the fix. We stopped trying to feed raw documents into the model. Instead, we do two stages."</a:t>
            </a:r>
          </a:p>
          <a:p/>
          <a:p>
            <a:r>
              <a:t>"Stage one: for every filing in a case, we run Claude to extract just the structured facts — parties, claims, procedural moves, outcomes. One filing goes from maybe 50,000 tokens of legalese to about 2,000 tokens of facts."</a:t>
            </a:r>
          </a:p>
          <a:p/>
          <a:p>
            <a:r>
              <a:t>"Stage two: we train the model on the synthesis task — reading those extracted facts and writing the Clearinghouse-style summary."</a:t>
            </a:r>
          </a:p>
          <a:p/>
          <a:p>
            <a:r>
              <a:t>"The headline numbers: a median case goes from 27,000 tokens to 4,500 tokens, and the fit rate jumps from 55% to 98%. And critically — we did not drop a single filing. Every document is still represented, just in compressed form. This one change is what made every downstream result possible."</a:t>
            </a:r>
          </a:p>
          <a:p/>
          <a:p>
            <a:r>
              <a:t>[Hand to Jayant]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[JAYANT — 0:30]</a:t>
            </a:r>
          </a:p>
          <a:p/>
          <a:p>
            <a:r>
              <a:t>"Once the data was clean, training was the comparatively easy part. We used Qwen2.5-7B-Instruct as our base — an open-weights model with a 32K context window that we can actually deploy on a single GPU."</a:t>
            </a:r>
          </a:p>
          <a:p/>
          <a:p>
            <a:r>
              <a:t>"We fine-tuned it with LoRA — low-rank adapters. That means instead of retraining all seven billion parameters, we train a tiny slice, about 0.3% of them. It runs in hours on one A100 on MSU's HPCC."</a:t>
            </a:r>
          </a:p>
          <a:p/>
          <a:p>
            <a:r>
              <a:t>"And we chose LoRA on an open model very deliberately. Three reasons — deployability: the Clearinghouse keeps the data on their own infrastructure; efficiency: we can iterate fast; and reversibility: if anything goes wrong, adapters swap out cleanly. GPT-4 would be easier, but it would also mean shipping case data to a third party. That was a non-starter for our partner."</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[JAYANT — 0:45]</a:t>
            </a:r>
          </a:p>
          <a:p/>
          <a:p>
            <a:r>
              <a:t>"So how did it do? We scored every generated summary three ways."</a:t>
            </a:r>
          </a:p>
          <a:p/>
          <a:p>
            <a:r>
              <a:t>"ROUGE-L measures lexical overlap with the staff-written references — how many of the same words and phrases we produce. We hit 0.41, which is 14 points above the untuned base model."</a:t>
            </a:r>
          </a:p>
          <a:p/>
          <a:p>
            <a:r>
              <a:t>"BERTScore measures semantic similarity using contextual embeddings. We hit 0.87 — within three points of what you'd get between two human annotators reading the same case."</a:t>
            </a:r>
          </a:p>
          <a:p/>
          <a:p>
            <a:r>
              <a:t>"And then the one we care about most: LLM-as-Judge. We asked Claude to score each summary on legal reasoning, factual accuracy, completeness, conciseness, and overall quality. Our model averaged 4.1 out of 5, and the biggest gain was on factual accuracy — up 1.2 points. That's the dimension a legal reviewer reads for first. Nothing else matters if the facts are wrong."</a:t>
            </a:r>
          </a:p>
          <a:p/>
          <a:p>
            <a:r>
              <a:t>"Click."</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[LIAM — 0:45]</a:t>
            </a:r>
          </a:p>
          <a:p/>
          <a:p>
            <a:r>
              <a:t>"So what are we actually handing back? Four things."</a:t>
            </a:r>
          </a:p>
          <a:p/>
          <a:p>
            <a:r>
              <a:t>"One: a reproducible pipeline. Every stage is a single command. No hidden state, no 'it only works on Liam's laptop.'"</a:t>
            </a:r>
          </a:p>
          <a:p/>
          <a:p>
            <a:r>
              <a:t>"Two: a fine-tuned LoRA adapter the Clearinghouse can load onto Qwen2.5-7B and run on one GPU."</a:t>
            </a:r>
          </a:p>
          <a:p/>
          <a:p>
            <a:r>
              <a:t>"Three: an evaluation harness they can run on any future version — so the day someone tries to 'improve' the model, they'll know immediately if it actually got worse."</a:t>
            </a:r>
          </a:p>
          <a:p/>
          <a:p>
            <a:r>
              <a:t>"Four: documentation. A full report, an install guide, and a Jupyter notebook that regenerates every figure in this talk from bundled fixture data."</a:t>
            </a:r>
          </a:p>
          <a:p/>
          <a:p>
            <a:r>
              <a:t>Pause. Look at partner.</a:t>
            </a:r>
          </a:p>
          <a:p/>
          <a:p>
            <a:r>
              <a:t>"And one guardrail we want to say out loud: every generated summary still goes through human review before publication. We built an assistant, not a replacement. That was a hard line from day one."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[LIAM — 0:15 close]</a:t>
            </a:r>
          </a:p>
          <a:p/>
          <a:p>
            <a:r>
              <a:t>"Thank you to the Clearinghouse team at U-M Law — you trusted four students with your work, and we hope what we're giving back earns it. Thank you to CMSE 495 and to our instructor for the runway."</a:t>
            </a:r>
          </a:p>
          <a:p/>
          <a:p>
            <a:r>
              <a:t>Gesture to the team.</a:t>
            </a:r>
          </a:p>
          <a:p/>
          <a:p>
            <a:r>
              <a:t>"That's Team Civil Rights Summarized AI — Liam, Nick, Ishmail, and Jayant. We'll be at the poster for the rest of the session. Come find us — we would genuinely love to talk about any of this."</a:t>
            </a:r>
          </a:p>
          <a:p/>
          <a:p>
            <a:r>
              <a:t>"Thank you."</a:t>
            </a:r>
          </a:p>
          <a:p/>
          <a:p>
            <a:r>
              <a:t>[STAY STANDING. Smile. Wait for applause. Then open for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not shown during the lightning talk. Kept for the team's own reference on day-of logistics.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not shown during the lightning talk. Answer bank for Q&amp;A after the talk and for the community-partner conversation at the poster.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 not shown during the lightning talk. Documents how prior peer-review and instructor feedback was incorporated into this final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43000"/>
            <a:ext cx="11155680" cy="1097280"/>
          </a:xfrm>
          <a:prstGeom prst="rect">
            <a:avLst/>
          </a:prstGeom>
          <a:noFill/>
        </p:spPr>
        <p:txBody>
          <a:bodyPr wrap="square" lIns="45720" rIns="45720" tIns="27432" bIns="27432" anchor="t">
            <a:spAutoFit/>
          </a:bodyPr>
          <a:lstStyle/>
          <a:p>
            <a:pPr algn="ctr"/>
            <a:r>
              <a:rPr sz="5000" b="1" i="0">
                <a:solidFill>
                  <a:srgbClr val="8B2E2A"/>
                </a:solidFill>
                <a:latin typeface="Georgia"/>
              </a:rPr>
              <a:t>MAKING CIVIL RIGHTS CASES</a:t>
            </a:r>
          </a:p>
        </p:txBody>
      </p:sp>
      <p:sp>
        <p:nvSpPr>
          <p:cNvPr id="4" name="TextBox 3"/>
          <p:cNvSpPr txBox="1"/>
          <p:nvPr/>
        </p:nvSpPr>
        <p:spPr>
          <a:xfrm>
            <a:off x="548640" y="1874519"/>
            <a:ext cx="11155680" cy="1097280"/>
          </a:xfrm>
          <a:prstGeom prst="rect">
            <a:avLst/>
          </a:prstGeom>
          <a:noFill/>
        </p:spPr>
        <p:txBody>
          <a:bodyPr wrap="square" lIns="45720" rIns="45720" tIns="27432" bIns="27432" anchor="t">
            <a:spAutoFit/>
          </a:bodyPr>
          <a:lstStyle/>
          <a:p>
            <a:pPr algn="ctr"/>
            <a:r>
              <a:rPr sz="5000" b="1" i="0">
                <a:solidFill>
                  <a:srgbClr val="8B2E2A"/>
                </a:solidFill>
                <a:latin typeface="Georgia"/>
              </a:rPr>
              <a:t>EASIER TO UNDERSTAND USING AI</a:t>
            </a:r>
          </a:p>
        </p:txBody>
      </p:sp>
      <p:sp>
        <p:nvSpPr>
          <p:cNvPr id="5" name="Rectangle 4"/>
          <p:cNvSpPr/>
          <p:nvPr/>
        </p:nvSpPr>
        <p:spPr>
          <a:xfrm>
            <a:off x="5175504" y="2971800"/>
            <a:ext cx="182880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154680"/>
            <a:ext cx="11155680" cy="457200"/>
          </a:xfrm>
          <a:prstGeom prst="rect">
            <a:avLst/>
          </a:prstGeom>
          <a:noFill/>
        </p:spPr>
        <p:txBody>
          <a:bodyPr wrap="square" lIns="45720" rIns="45720" tIns="27432" bIns="27432" anchor="t">
            <a:spAutoFit/>
          </a:bodyPr>
          <a:lstStyle/>
          <a:p>
            <a:pPr algn="ctr"/>
            <a:r>
              <a:rPr sz="1600" b="0" i="1">
                <a:solidFill>
                  <a:srgbClr val="6B6158"/>
                </a:solidFill>
                <a:latin typeface="Georgia"/>
              </a:rPr>
              <a:t>A fine-tuned summarization pipeline for federal civil rights litigation</a:t>
            </a:r>
          </a:p>
        </p:txBody>
      </p:sp>
      <p:sp>
        <p:nvSpPr>
          <p:cNvPr id="7" name="TextBox 6"/>
          <p:cNvSpPr txBox="1"/>
          <p:nvPr/>
        </p:nvSpPr>
        <p:spPr>
          <a:xfrm>
            <a:off x="548640" y="4251960"/>
            <a:ext cx="11155680" cy="365760"/>
          </a:xfrm>
          <a:prstGeom prst="rect">
            <a:avLst/>
          </a:prstGeom>
          <a:noFill/>
        </p:spPr>
        <p:txBody>
          <a:bodyPr wrap="square" lIns="45720" rIns="45720" tIns="27432" bIns="27432" anchor="t">
            <a:spAutoFit/>
          </a:bodyPr>
          <a:lstStyle/>
          <a:p>
            <a:pPr algn="ctr"/>
            <a:r>
              <a:rPr sz="1100" b="1" i="0">
                <a:solidFill>
                  <a:srgbClr val="B5443D"/>
                </a:solidFill>
                <a:latin typeface="Calibri"/>
              </a:rPr>
              <a:t>TEAM</a:t>
            </a:r>
          </a:p>
        </p:txBody>
      </p:sp>
      <p:sp>
        <p:nvSpPr>
          <p:cNvPr id="8" name="TextBox 7"/>
          <p:cNvSpPr txBox="1"/>
          <p:nvPr/>
        </p:nvSpPr>
        <p:spPr>
          <a:xfrm>
            <a:off x="548640" y="4526280"/>
            <a:ext cx="11155680" cy="457200"/>
          </a:xfrm>
          <a:prstGeom prst="rect">
            <a:avLst/>
          </a:prstGeom>
          <a:noFill/>
        </p:spPr>
        <p:txBody>
          <a:bodyPr wrap="square" lIns="45720" rIns="45720" tIns="27432" bIns="27432" anchor="t">
            <a:spAutoFit/>
          </a:bodyPr>
          <a:lstStyle/>
          <a:p>
            <a:pPr algn="ctr"/>
            <a:r>
              <a:rPr sz="1800" b="1" i="0">
                <a:solidFill>
                  <a:srgbClr val="1F1F1F"/>
                </a:solidFill>
                <a:latin typeface="Georgia"/>
              </a:rPr>
              <a:t>Liam Sandy   ·   Nick Sleeper   ·   Ishmail Khan   ·   Jayant Sahai</a:t>
            </a:r>
          </a:p>
        </p:txBody>
      </p:sp>
      <p:sp>
        <p:nvSpPr>
          <p:cNvPr id="9" name="TextBox 8"/>
          <p:cNvSpPr txBox="1"/>
          <p:nvPr/>
        </p:nvSpPr>
        <p:spPr>
          <a:xfrm>
            <a:off x="548640" y="5394960"/>
            <a:ext cx="11155680" cy="320040"/>
          </a:xfrm>
          <a:prstGeom prst="rect">
            <a:avLst/>
          </a:prstGeom>
          <a:noFill/>
        </p:spPr>
        <p:txBody>
          <a:bodyPr wrap="square" lIns="45720" rIns="45720" tIns="27432" bIns="27432" anchor="t">
            <a:spAutoFit/>
          </a:bodyPr>
          <a:lstStyle/>
          <a:p>
            <a:pPr algn="ctr"/>
            <a:r>
              <a:rPr sz="1000" b="1" i="0">
                <a:solidFill>
                  <a:srgbClr val="6B6158"/>
                </a:solidFill>
                <a:latin typeface="Calibri"/>
              </a:rPr>
              <a:t>IN PARTNERSHIP WITH</a:t>
            </a:r>
          </a:p>
        </p:txBody>
      </p:sp>
      <p:sp>
        <p:nvSpPr>
          <p:cNvPr id="10" name="TextBox 9"/>
          <p:cNvSpPr txBox="1"/>
          <p:nvPr/>
        </p:nvSpPr>
        <p:spPr>
          <a:xfrm>
            <a:off x="548640" y="5669280"/>
            <a:ext cx="11155680" cy="411480"/>
          </a:xfrm>
          <a:prstGeom prst="rect">
            <a:avLst/>
          </a:prstGeom>
          <a:noFill/>
        </p:spPr>
        <p:txBody>
          <a:bodyPr wrap="square" lIns="45720" rIns="45720" tIns="27432" bIns="27432" anchor="t">
            <a:spAutoFit/>
          </a:bodyPr>
          <a:lstStyle/>
          <a:p>
            <a:pPr algn="ctr"/>
            <a:r>
              <a:rPr sz="1600" b="1" i="0">
                <a:solidFill>
                  <a:srgbClr val="8B2E2A"/>
                </a:solidFill>
                <a:latin typeface="Georgia"/>
              </a:rPr>
              <a:t>Civil Rights Litigation Clearinghouse</a:t>
            </a:r>
          </a:p>
        </p:txBody>
      </p:sp>
      <p:sp>
        <p:nvSpPr>
          <p:cNvPr id="11" name="TextBox 10"/>
          <p:cNvSpPr txBox="1"/>
          <p:nvPr/>
        </p:nvSpPr>
        <p:spPr>
          <a:xfrm>
            <a:off x="548640" y="5989320"/>
            <a:ext cx="11155680" cy="320040"/>
          </a:xfrm>
          <a:prstGeom prst="rect">
            <a:avLst/>
          </a:prstGeom>
          <a:noFill/>
        </p:spPr>
        <p:txBody>
          <a:bodyPr wrap="square" lIns="45720" rIns="45720" tIns="27432" bIns="27432" anchor="t">
            <a:spAutoFit/>
          </a:bodyPr>
          <a:lstStyle/>
          <a:p>
            <a:pPr algn="ctr"/>
            <a:r>
              <a:rPr sz="1200" b="0" i="0">
                <a:solidFill>
                  <a:srgbClr val="6B6158"/>
                </a:solidFill>
                <a:latin typeface="Georgia"/>
              </a:rPr>
              <a:t>University of Michigan Law School</a:t>
            </a:r>
          </a:p>
        </p:txBody>
      </p:sp>
      <p:sp>
        <p:nvSpPr>
          <p:cNvPr id="12" name="Rectangle 11"/>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14" name="TextBox 13"/>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4000" b="1" i="0">
                <a:solidFill>
                  <a:srgbClr val="8B2E2A"/>
                </a:solidFill>
                <a:latin typeface="Georgia"/>
              </a:rPr>
              <a:t>THE PROBLEM</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91640"/>
            <a:ext cx="5486400" cy="4480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5486400" cy="365760"/>
          </a:xfrm>
          <a:prstGeom prst="rect">
            <a:avLst/>
          </a:prstGeom>
          <a:noFill/>
        </p:spPr>
        <p:txBody>
          <a:bodyPr wrap="square" lIns="45720" rIns="45720" tIns="27432" bIns="27432" anchor="t">
            <a:spAutoFit/>
          </a:bodyPr>
          <a:lstStyle/>
          <a:p>
            <a:pPr algn="ctr"/>
            <a:r>
              <a:rPr sz="1100" b="1" i="0">
                <a:solidFill>
                  <a:srgbClr val="B5443D"/>
                </a:solidFill>
                <a:latin typeface="Calibri"/>
              </a:rPr>
              <a:t>EVERY CASE. BY HAND.</a:t>
            </a:r>
          </a:p>
        </p:txBody>
      </p:sp>
      <p:sp>
        <p:nvSpPr>
          <p:cNvPr id="7" name="TextBox 6"/>
          <p:cNvSpPr txBox="1"/>
          <p:nvPr/>
        </p:nvSpPr>
        <p:spPr>
          <a:xfrm>
            <a:off x="548640" y="2286000"/>
            <a:ext cx="5486400" cy="1463040"/>
          </a:xfrm>
          <a:prstGeom prst="rect">
            <a:avLst/>
          </a:prstGeom>
          <a:noFill/>
        </p:spPr>
        <p:txBody>
          <a:bodyPr wrap="square" lIns="45720" rIns="45720" tIns="27432" bIns="27432" anchor="t">
            <a:spAutoFit/>
          </a:bodyPr>
          <a:lstStyle/>
          <a:p>
            <a:pPr algn="ctr"/>
            <a:r>
              <a:rPr sz="11000" b="1" i="0">
                <a:solidFill>
                  <a:srgbClr val="8B2E2A"/>
                </a:solidFill>
                <a:latin typeface="Georgia"/>
              </a:rPr>
              <a:t>10,000+</a:t>
            </a:r>
          </a:p>
        </p:txBody>
      </p:sp>
      <p:sp>
        <p:nvSpPr>
          <p:cNvPr id="8" name="TextBox 7"/>
          <p:cNvSpPr txBox="1"/>
          <p:nvPr/>
        </p:nvSpPr>
        <p:spPr>
          <a:xfrm>
            <a:off x="548640" y="4023360"/>
            <a:ext cx="5486400" cy="457200"/>
          </a:xfrm>
          <a:prstGeom prst="rect">
            <a:avLst/>
          </a:prstGeom>
          <a:noFill/>
        </p:spPr>
        <p:txBody>
          <a:bodyPr wrap="square" lIns="45720" rIns="45720" tIns="27432" bIns="27432" anchor="t">
            <a:spAutoFit/>
          </a:bodyPr>
          <a:lstStyle/>
          <a:p>
            <a:pPr algn="ctr"/>
            <a:r>
              <a:rPr sz="1800" b="0" i="1">
                <a:solidFill>
                  <a:srgbClr val="1F1F1F"/>
                </a:solidFill>
                <a:latin typeface="Georgia"/>
              </a:rPr>
              <a:t>federal civil rights cases</a:t>
            </a:r>
          </a:p>
        </p:txBody>
      </p:sp>
      <p:sp>
        <p:nvSpPr>
          <p:cNvPr id="9" name="TextBox 8"/>
          <p:cNvSpPr txBox="1"/>
          <p:nvPr/>
        </p:nvSpPr>
        <p:spPr>
          <a:xfrm>
            <a:off x="731520" y="4663440"/>
            <a:ext cx="5120640" cy="1463040"/>
          </a:xfrm>
          <a:prstGeom prst="rect">
            <a:avLst/>
          </a:prstGeom>
          <a:noFill/>
        </p:spPr>
        <p:txBody>
          <a:bodyPr wrap="square" lIns="45720" rIns="45720" tIns="27432" bIns="27432" anchor="t">
            <a:spAutoFit/>
          </a:bodyPr>
          <a:lstStyle/>
          <a:p>
            <a:pPr algn="ctr"/>
            <a:r>
              <a:rPr sz="1300" b="0" i="0">
                <a:solidFill>
                  <a:srgbClr val="6B6158"/>
                </a:solidFill>
                <a:latin typeface="Calibri"/>
              </a:rPr>
              <a:t>Each one catalogued and summarized by Clearinghouse staff since 2002. It's meticulous — and it doesn't scale.</a:t>
            </a:r>
          </a:p>
        </p:txBody>
      </p:sp>
      <p:sp>
        <p:nvSpPr>
          <p:cNvPr id="10" name="TextBox 9"/>
          <p:cNvSpPr txBox="1"/>
          <p:nvPr/>
        </p:nvSpPr>
        <p:spPr>
          <a:xfrm>
            <a:off x="6400800" y="1783080"/>
            <a:ext cx="5303520" cy="365760"/>
          </a:xfrm>
          <a:prstGeom prst="rect">
            <a:avLst/>
          </a:prstGeom>
          <a:noFill/>
        </p:spPr>
        <p:txBody>
          <a:bodyPr wrap="square" lIns="45720" rIns="45720" tIns="27432" bIns="27432" anchor="t">
            <a:spAutoFit/>
          </a:bodyPr>
          <a:lstStyle/>
          <a:p>
            <a:pPr algn="l"/>
            <a:r>
              <a:rPr sz="1100" b="1" i="0">
                <a:solidFill>
                  <a:srgbClr val="B5443D"/>
                </a:solidFill>
                <a:latin typeface="Calibri"/>
              </a:rPr>
              <a:t>WHY IT MATTERS</a:t>
            </a:r>
          </a:p>
        </p:txBody>
      </p:sp>
      <p:sp>
        <p:nvSpPr>
          <p:cNvPr id="11" name="Rectangle 10"/>
          <p:cNvSpPr/>
          <p:nvPr/>
        </p:nvSpPr>
        <p:spPr>
          <a:xfrm>
            <a:off x="6400800" y="2286000"/>
            <a:ext cx="109728" cy="11430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2240280"/>
            <a:ext cx="5029200" cy="365760"/>
          </a:xfrm>
          <a:prstGeom prst="rect">
            <a:avLst/>
          </a:prstGeom>
          <a:noFill/>
        </p:spPr>
        <p:txBody>
          <a:bodyPr wrap="square" lIns="45720" rIns="45720" tIns="27432" bIns="27432" anchor="t">
            <a:spAutoFit/>
          </a:bodyPr>
          <a:lstStyle/>
          <a:p>
            <a:pPr algn="l"/>
            <a:r>
              <a:rPr sz="1600" b="1" i="0">
                <a:solidFill>
                  <a:srgbClr val="8B2E2A"/>
                </a:solidFill>
                <a:latin typeface="Georgia"/>
              </a:rPr>
              <a:t>Scale</a:t>
            </a:r>
          </a:p>
        </p:txBody>
      </p:sp>
      <p:sp>
        <p:nvSpPr>
          <p:cNvPr id="13" name="TextBox 12"/>
          <p:cNvSpPr txBox="1"/>
          <p:nvPr/>
        </p:nvSpPr>
        <p:spPr>
          <a:xfrm>
            <a:off x="6675120" y="2624328"/>
            <a:ext cx="5029200" cy="822960"/>
          </a:xfrm>
          <a:prstGeom prst="rect">
            <a:avLst/>
          </a:prstGeom>
          <a:noFill/>
        </p:spPr>
        <p:txBody>
          <a:bodyPr wrap="square" lIns="45720" rIns="45720" tIns="27432" bIns="27432" anchor="t">
            <a:spAutoFit/>
          </a:bodyPr>
          <a:lstStyle/>
          <a:p>
            <a:pPr algn="l"/>
            <a:r>
              <a:rPr sz="1200" b="0" i="0">
                <a:solidFill>
                  <a:srgbClr val="1F1F1F"/>
                </a:solidFill>
                <a:latin typeface="Calibri"/>
              </a:rPr>
              <a:t>A single case can include hundreds of filings. Staff cannot keep up with the backlog.</a:t>
            </a:r>
          </a:p>
        </p:txBody>
      </p:sp>
      <p:sp>
        <p:nvSpPr>
          <p:cNvPr id="14" name="Rectangle 13"/>
          <p:cNvSpPr/>
          <p:nvPr/>
        </p:nvSpPr>
        <p:spPr>
          <a:xfrm>
            <a:off x="6400800" y="3657600"/>
            <a:ext cx="109728" cy="11430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3611880"/>
            <a:ext cx="5029200" cy="365760"/>
          </a:xfrm>
          <a:prstGeom prst="rect">
            <a:avLst/>
          </a:prstGeom>
          <a:noFill/>
        </p:spPr>
        <p:txBody>
          <a:bodyPr wrap="square" lIns="45720" rIns="45720" tIns="27432" bIns="27432" anchor="t">
            <a:spAutoFit/>
          </a:bodyPr>
          <a:lstStyle/>
          <a:p>
            <a:pPr algn="l"/>
            <a:r>
              <a:rPr sz="1600" b="1" i="0">
                <a:solidFill>
                  <a:srgbClr val="8B2E2A"/>
                </a:solidFill>
                <a:latin typeface="Georgia"/>
              </a:rPr>
              <a:t>Stakes</a:t>
            </a:r>
          </a:p>
        </p:txBody>
      </p:sp>
      <p:sp>
        <p:nvSpPr>
          <p:cNvPr id="16" name="TextBox 15"/>
          <p:cNvSpPr txBox="1"/>
          <p:nvPr/>
        </p:nvSpPr>
        <p:spPr>
          <a:xfrm>
            <a:off x="6675120" y="3995928"/>
            <a:ext cx="5029200" cy="822960"/>
          </a:xfrm>
          <a:prstGeom prst="rect">
            <a:avLst/>
          </a:prstGeom>
          <a:noFill/>
        </p:spPr>
        <p:txBody>
          <a:bodyPr wrap="square" lIns="45720" rIns="45720" tIns="27432" bIns="27432" anchor="t">
            <a:spAutoFit/>
          </a:bodyPr>
          <a:lstStyle/>
          <a:p>
            <a:pPr algn="l"/>
            <a:r>
              <a:rPr sz="1200" b="0" i="0">
                <a:solidFill>
                  <a:srgbClr val="1F1F1F"/>
                </a:solidFill>
                <a:latin typeface="Calibri"/>
              </a:rPr>
              <a:t>Researchers, journalists, and attorneys rely on these summaries. Mistakes have consequences.</a:t>
            </a:r>
          </a:p>
        </p:txBody>
      </p:sp>
      <p:sp>
        <p:nvSpPr>
          <p:cNvPr id="17" name="Rectangle 16"/>
          <p:cNvSpPr/>
          <p:nvPr/>
        </p:nvSpPr>
        <p:spPr>
          <a:xfrm>
            <a:off x="6400800" y="5029200"/>
            <a:ext cx="109728" cy="11430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4983480"/>
            <a:ext cx="5029200" cy="365760"/>
          </a:xfrm>
          <a:prstGeom prst="rect">
            <a:avLst/>
          </a:prstGeom>
          <a:noFill/>
        </p:spPr>
        <p:txBody>
          <a:bodyPr wrap="square" lIns="45720" rIns="45720" tIns="27432" bIns="27432" anchor="t">
            <a:spAutoFit/>
          </a:bodyPr>
          <a:lstStyle/>
          <a:p>
            <a:pPr algn="l"/>
            <a:r>
              <a:rPr sz="1600" b="1" i="0">
                <a:solidFill>
                  <a:srgbClr val="8B2E2A"/>
                </a:solidFill>
                <a:latin typeface="Georgia"/>
              </a:rPr>
              <a:t>Opportunity</a:t>
            </a:r>
          </a:p>
        </p:txBody>
      </p:sp>
      <p:sp>
        <p:nvSpPr>
          <p:cNvPr id="19" name="TextBox 18"/>
          <p:cNvSpPr txBox="1"/>
          <p:nvPr/>
        </p:nvSpPr>
        <p:spPr>
          <a:xfrm>
            <a:off x="6675120" y="5367528"/>
            <a:ext cx="5029200" cy="822960"/>
          </a:xfrm>
          <a:prstGeom prst="rect">
            <a:avLst/>
          </a:prstGeom>
          <a:noFill/>
        </p:spPr>
        <p:txBody>
          <a:bodyPr wrap="square" lIns="45720" rIns="45720" tIns="27432" bIns="27432" anchor="t">
            <a:spAutoFit/>
          </a:bodyPr>
          <a:lstStyle/>
          <a:p>
            <a:pPr algn="l"/>
            <a:r>
              <a:rPr sz="1200" b="0" i="0">
                <a:solidFill>
                  <a:srgbClr val="1F1F1F"/>
                </a:solidFill>
                <a:latin typeface="Calibri"/>
              </a:rPr>
              <a:t>A trustworthy assistive model frees staff to focus on the legal review only a human can do.</a:t>
            </a:r>
          </a:p>
        </p:txBody>
      </p:sp>
      <p:sp>
        <p:nvSpPr>
          <p:cNvPr id="20" name="Rectangle 19"/>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22" name="TextBox 21"/>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4000" b="1" i="0">
                <a:solidFill>
                  <a:srgbClr val="8B2E2A"/>
                </a:solidFill>
                <a:latin typeface="Georgia"/>
              </a:rPr>
              <a:t>OUR PARTNER &amp; THE ASK</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91640"/>
            <a:ext cx="6400800" cy="4480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5943600" cy="365760"/>
          </a:xfrm>
          <a:prstGeom prst="rect">
            <a:avLst/>
          </a:prstGeom>
          <a:noFill/>
        </p:spPr>
        <p:txBody>
          <a:bodyPr wrap="square" lIns="45720" rIns="45720" tIns="27432" bIns="27432" anchor="t">
            <a:spAutoFit/>
          </a:bodyPr>
          <a:lstStyle/>
          <a:p>
            <a:pPr algn="l"/>
            <a:r>
              <a:rPr sz="1100" b="1" i="0">
                <a:solidFill>
                  <a:srgbClr val="B5443D"/>
                </a:solidFill>
                <a:latin typeface="Calibri"/>
              </a:rPr>
              <a:t>COMMUNITY PARTNER</a:t>
            </a:r>
          </a:p>
        </p:txBody>
      </p:sp>
      <p:sp>
        <p:nvSpPr>
          <p:cNvPr id="7" name="TextBox 6"/>
          <p:cNvSpPr txBox="1"/>
          <p:nvPr/>
        </p:nvSpPr>
        <p:spPr>
          <a:xfrm>
            <a:off x="777240" y="2194560"/>
            <a:ext cx="5943600" cy="548640"/>
          </a:xfrm>
          <a:prstGeom prst="rect">
            <a:avLst/>
          </a:prstGeom>
          <a:noFill/>
        </p:spPr>
        <p:txBody>
          <a:bodyPr wrap="square" lIns="45720" rIns="45720" tIns="27432" bIns="27432" anchor="t">
            <a:spAutoFit/>
          </a:bodyPr>
          <a:lstStyle/>
          <a:p>
            <a:pPr algn="l"/>
            <a:r>
              <a:rPr sz="2400" b="1" i="0">
                <a:solidFill>
                  <a:srgbClr val="8B2E2A"/>
                </a:solidFill>
                <a:latin typeface="Georgia"/>
              </a:rPr>
              <a:t>Civil Rights Litigation Clearinghouse</a:t>
            </a:r>
          </a:p>
        </p:txBody>
      </p:sp>
      <p:sp>
        <p:nvSpPr>
          <p:cNvPr id="8" name="TextBox 7"/>
          <p:cNvSpPr txBox="1"/>
          <p:nvPr/>
        </p:nvSpPr>
        <p:spPr>
          <a:xfrm>
            <a:off x="777240" y="2788920"/>
            <a:ext cx="5943600" cy="365760"/>
          </a:xfrm>
          <a:prstGeom prst="rect">
            <a:avLst/>
          </a:prstGeom>
          <a:noFill/>
        </p:spPr>
        <p:txBody>
          <a:bodyPr wrap="square" lIns="45720" rIns="45720" tIns="27432" bIns="27432" anchor="t">
            <a:spAutoFit/>
          </a:bodyPr>
          <a:lstStyle/>
          <a:p>
            <a:pPr algn="l"/>
            <a:r>
              <a:rPr sz="1400" b="0" i="1">
                <a:solidFill>
                  <a:srgbClr val="6B6158"/>
                </a:solidFill>
                <a:latin typeface="Georgia"/>
              </a:rPr>
              <a:t>University of Michigan Law School</a:t>
            </a:r>
          </a:p>
        </p:txBody>
      </p:sp>
      <p:sp>
        <p:nvSpPr>
          <p:cNvPr id="9" name="Rectangle 8"/>
          <p:cNvSpPr/>
          <p:nvPr/>
        </p:nvSpPr>
        <p:spPr>
          <a:xfrm>
            <a:off x="777240" y="3246120"/>
            <a:ext cx="914400" cy="28575"/>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383280"/>
            <a:ext cx="5943600" cy="2743200"/>
          </a:xfrm>
          <a:prstGeom prst="rect">
            <a:avLst/>
          </a:prstGeom>
          <a:noFill/>
        </p:spPr>
        <p:txBody>
          <a:bodyPr wrap="square" lIns="45720" rIns="45720" tIns="27432" bIns="27432" anchor="t">
            <a:spAutoFit/>
          </a:bodyPr>
          <a:lstStyle/>
          <a:p>
            <a:pPr algn="l"/>
            <a:r>
              <a:rPr sz="1300" b="0" i="0">
                <a:solidFill>
                  <a:srgbClr val="1F1F1F"/>
                </a:solidFill>
                <a:latin typeface="Calibri"/>
              </a:rPr>
              <a:t>The Clearinghouse is the largest public archive of federal civil rights litigation in the United States. Their researchers and student editors read every filing and produce a structured, citation-quality summary that courts, journalists, and advocates use as a starting point for their own work.</a:t>
            </a:r>
          </a:p>
        </p:txBody>
      </p:sp>
      <p:sp>
        <p:nvSpPr>
          <p:cNvPr id="11" name="Rounded Rectangle 10"/>
          <p:cNvSpPr/>
          <p:nvPr/>
        </p:nvSpPr>
        <p:spPr>
          <a:xfrm>
            <a:off x="7315200" y="1691640"/>
            <a:ext cx="4389120" cy="4480560"/>
          </a:xfrm>
          <a:prstGeom prst="roundRect">
            <a:avLst>
              <a:gd name="adj" fmla="val 8000"/>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920240"/>
            <a:ext cx="3840480" cy="365760"/>
          </a:xfrm>
          <a:prstGeom prst="rect">
            <a:avLst/>
          </a:prstGeom>
          <a:noFill/>
        </p:spPr>
        <p:txBody>
          <a:bodyPr wrap="square" lIns="45720" rIns="45720" tIns="27432" bIns="27432" anchor="t">
            <a:spAutoFit/>
          </a:bodyPr>
          <a:lstStyle/>
          <a:p>
            <a:pPr algn="l"/>
            <a:r>
              <a:rPr sz="1100" b="1" i="0">
                <a:solidFill>
                  <a:srgbClr val="B5443D"/>
                </a:solidFill>
                <a:latin typeface="Calibri"/>
              </a:rPr>
              <a:t>THE ASK</a:t>
            </a:r>
          </a:p>
        </p:txBody>
      </p:sp>
      <p:sp>
        <p:nvSpPr>
          <p:cNvPr id="13" name="TextBox 12"/>
          <p:cNvSpPr txBox="1"/>
          <p:nvPr/>
        </p:nvSpPr>
        <p:spPr>
          <a:xfrm>
            <a:off x="7589520" y="2286000"/>
            <a:ext cx="3840480" cy="2011680"/>
          </a:xfrm>
          <a:prstGeom prst="rect">
            <a:avLst/>
          </a:prstGeom>
          <a:noFill/>
        </p:spPr>
        <p:txBody>
          <a:bodyPr wrap="square" lIns="45720" rIns="45720" tIns="27432" bIns="27432" anchor="t">
            <a:spAutoFit/>
          </a:bodyPr>
          <a:lstStyle/>
          <a:p>
            <a:pPr algn="l"/>
            <a:r>
              <a:rPr sz="2200" b="1" i="1">
                <a:solidFill>
                  <a:srgbClr val="FAF7EF"/>
                </a:solidFill>
                <a:latin typeface="Georgia"/>
              </a:rPr>
              <a:t>“Can an AI help us summarize cases without getting the law wrong?”</a:t>
            </a:r>
          </a:p>
        </p:txBody>
      </p:sp>
      <p:sp>
        <p:nvSpPr>
          <p:cNvPr id="14" name="Rectangle 13"/>
          <p:cNvSpPr/>
          <p:nvPr/>
        </p:nvSpPr>
        <p:spPr>
          <a:xfrm>
            <a:off x="7589520" y="4572000"/>
            <a:ext cx="731520" cy="28575"/>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4709160"/>
            <a:ext cx="3840480" cy="1280160"/>
          </a:xfrm>
          <a:prstGeom prst="rect">
            <a:avLst/>
          </a:prstGeom>
          <a:noFill/>
        </p:spPr>
        <p:txBody>
          <a:bodyPr wrap="square" lIns="45720" rIns="45720" tIns="27432" bIns="27432" anchor="t">
            <a:spAutoFit/>
          </a:bodyPr>
          <a:lstStyle/>
          <a:p>
            <a:pPr algn="l"/>
            <a:r>
              <a:rPr sz="1200" b="0" i="0">
                <a:solidFill>
                  <a:srgbClr val="FAF7EF"/>
                </a:solidFill>
                <a:latin typeface="Calibri"/>
              </a:rPr>
              <a:t>Our job: build an assistive summarization pipeline that is accurate, reproducible, and deployable on their own infrastructure.</a:t>
            </a:r>
          </a:p>
        </p:txBody>
      </p:sp>
      <p:sp>
        <p:nvSpPr>
          <p:cNvPr id="16" name="Rectangle 15"/>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18" name="TextBox 17"/>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4000" b="1" i="0">
                <a:solidFill>
                  <a:srgbClr val="8B2E2A"/>
                </a:solidFill>
                <a:latin typeface="Georgia"/>
              </a:rPr>
              <a:t>THE PIPELINE</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86587" y="2606040"/>
            <a:ext cx="2377440" cy="2377440"/>
          </a:xfrm>
          <a:prstGeom prst="roundRect">
            <a:avLst>
              <a:gd name="adj" fmla="val 8000"/>
            </a:avLst>
          </a:prstGeom>
          <a:solidFill>
            <a:srgbClr val="FAF7EF"/>
          </a:solidFill>
          <a:ln w="15875">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8027" y="2834640"/>
            <a:ext cx="2194560" cy="457200"/>
          </a:xfrm>
          <a:prstGeom prst="rect">
            <a:avLst/>
          </a:prstGeom>
          <a:noFill/>
        </p:spPr>
        <p:txBody>
          <a:bodyPr wrap="square" lIns="45720" rIns="45720" tIns="27432" bIns="27432" anchor="t">
            <a:spAutoFit/>
          </a:bodyPr>
          <a:lstStyle/>
          <a:p>
            <a:pPr algn="ctr"/>
            <a:r>
              <a:rPr sz="1600" b="1" i="0">
                <a:solidFill>
                  <a:srgbClr val="8B2E2A"/>
                </a:solidFill>
                <a:latin typeface="Georgia"/>
              </a:rPr>
              <a:t>Ingest</a:t>
            </a:r>
          </a:p>
        </p:txBody>
      </p:sp>
      <p:sp>
        <p:nvSpPr>
          <p:cNvPr id="7" name="TextBox 6"/>
          <p:cNvSpPr txBox="1"/>
          <p:nvPr/>
        </p:nvSpPr>
        <p:spPr>
          <a:xfrm>
            <a:off x="678027" y="3383280"/>
            <a:ext cx="2194560" cy="1463040"/>
          </a:xfrm>
          <a:prstGeom prst="rect">
            <a:avLst/>
          </a:prstGeom>
          <a:noFill/>
        </p:spPr>
        <p:txBody>
          <a:bodyPr wrap="square" lIns="45720" rIns="45720" tIns="27432" bIns="27432" anchor="t">
            <a:spAutoFit/>
          </a:bodyPr>
          <a:lstStyle/>
          <a:p>
            <a:pPr algn="ctr"/>
            <a:r>
              <a:rPr sz="1000" b="0" i="0">
                <a:solidFill>
                  <a:srgbClr val="1F1F1F"/>
                </a:solidFill>
                <a:latin typeface="Calibri"/>
              </a:rPr>
              <a:t>Pull normalized case records</a:t>
            </a:r>
          </a:p>
          <a:p>
            <a:pPr algn="ctr"/>
            <a:r>
              <a:rPr sz="1000" b="0" i="0">
                <a:solidFill>
                  <a:srgbClr val="1F1F1F"/>
                </a:solidFill>
                <a:latin typeface="Calibri"/>
              </a:rPr>
              <a:t>from the Clearinghouse API</a:t>
            </a:r>
          </a:p>
          <a:p>
            <a:pPr algn="ctr"/>
            <a:r>
              <a:rPr sz="1000" b="0" i="0">
                <a:solidFill>
                  <a:srgbClr val="1F1F1F"/>
                </a:solidFill>
                <a:latin typeface="Calibri"/>
              </a:rPr>
              <a:t>with checkpoint + resume.</a:t>
            </a:r>
          </a:p>
        </p:txBody>
      </p:sp>
      <p:sp>
        <p:nvSpPr>
          <p:cNvPr id="8" name="Right Arrow 7"/>
          <p:cNvSpPr/>
          <p:nvPr/>
        </p:nvSpPr>
        <p:spPr>
          <a:xfrm>
            <a:off x="2964027" y="3474720"/>
            <a:ext cx="502920" cy="640080"/>
          </a:xfrm>
          <a:prstGeom prst="rightArrow">
            <a:avLst>
              <a:gd name="adj1" fmla="val 50000"/>
              <a:gd name="adj2" fmla="val 35000"/>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66947" y="2606040"/>
            <a:ext cx="2377440" cy="2377440"/>
          </a:xfrm>
          <a:prstGeom prst="roundRect">
            <a:avLst>
              <a:gd name="adj" fmla="val 8000"/>
            </a:avLst>
          </a:prstGeom>
          <a:solidFill>
            <a:srgbClr val="FAF7EF"/>
          </a:solidFill>
          <a:ln w="15875">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8387" y="2834640"/>
            <a:ext cx="2194560" cy="457200"/>
          </a:xfrm>
          <a:prstGeom prst="rect">
            <a:avLst/>
          </a:prstGeom>
          <a:noFill/>
        </p:spPr>
        <p:txBody>
          <a:bodyPr wrap="square" lIns="45720" rIns="45720" tIns="27432" bIns="27432" anchor="t">
            <a:spAutoFit/>
          </a:bodyPr>
          <a:lstStyle/>
          <a:p>
            <a:pPr algn="ctr"/>
            <a:r>
              <a:rPr sz="1600" b="1" i="0">
                <a:solidFill>
                  <a:srgbClr val="8B2E2A"/>
                </a:solidFill>
                <a:latin typeface="Georgia"/>
              </a:rPr>
              <a:t>Prepare</a:t>
            </a:r>
          </a:p>
        </p:txBody>
      </p:sp>
      <p:sp>
        <p:nvSpPr>
          <p:cNvPr id="11" name="TextBox 10"/>
          <p:cNvSpPr txBox="1"/>
          <p:nvPr/>
        </p:nvSpPr>
        <p:spPr>
          <a:xfrm>
            <a:off x="3558387" y="3383280"/>
            <a:ext cx="2194560" cy="1463040"/>
          </a:xfrm>
          <a:prstGeom prst="rect">
            <a:avLst/>
          </a:prstGeom>
          <a:noFill/>
        </p:spPr>
        <p:txBody>
          <a:bodyPr wrap="square" lIns="45720" rIns="45720" tIns="27432" bIns="27432" anchor="t">
            <a:spAutoFit/>
          </a:bodyPr>
          <a:lstStyle/>
          <a:p>
            <a:pPr algn="ctr"/>
            <a:r>
              <a:rPr sz="1000" b="0" i="0">
                <a:solidFill>
                  <a:srgbClr val="1F1F1F"/>
                </a:solidFill>
                <a:latin typeface="Calibri"/>
              </a:rPr>
              <a:t>Fix document fragmentation.</a:t>
            </a:r>
          </a:p>
          <a:p>
            <a:pPr algn="ctr"/>
            <a:r>
              <a:rPr sz="1000" b="0" i="0">
                <a:solidFill>
                  <a:srgbClr val="1F1F1F"/>
                </a:solidFill>
                <a:latin typeface="Calibri"/>
              </a:rPr>
              <a:t>Extract structured facts</a:t>
            </a:r>
          </a:p>
          <a:p>
            <a:pPr algn="ctr"/>
            <a:r>
              <a:rPr sz="1000" b="0" i="0">
                <a:solidFill>
                  <a:srgbClr val="1F1F1F"/>
                </a:solidFill>
                <a:latin typeface="Calibri"/>
              </a:rPr>
              <a:t>from each filing.</a:t>
            </a:r>
          </a:p>
        </p:txBody>
      </p:sp>
      <p:sp>
        <p:nvSpPr>
          <p:cNvPr id="12" name="Right Arrow 11"/>
          <p:cNvSpPr/>
          <p:nvPr/>
        </p:nvSpPr>
        <p:spPr>
          <a:xfrm>
            <a:off x="5844387" y="3474720"/>
            <a:ext cx="502920" cy="640080"/>
          </a:xfrm>
          <a:prstGeom prst="rightArrow">
            <a:avLst>
              <a:gd name="adj1" fmla="val 50000"/>
              <a:gd name="adj2" fmla="val 35000"/>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47307" y="2606040"/>
            <a:ext cx="2377440" cy="2377440"/>
          </a:xfrm>
          <a:prstGeom prst="roundRect">
            <a:avLst>
              <a:gd name="adj" fmla="val 8000"/>
            </a:avLst>
          </a:prstGeom>
          <a:solidFill>
            <a:srgbClr val="FAF7EF"/>
          </a:solidFill>
          <a:ln w="15875">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8747" y="2834640"/>
            <a:ext cx="2194560" cy="457200"/>
          </a:xfrm>
          <a:prstGeom prst="rect">
            <a:avLst/>
          </a:prstGeom>
          <a:noFill/>
        </p:spPr>
        <p:txBody>
          <a:bodyPr wrap="square" lIns="45720" rIns="45720" tIns="27432" bIns="27432" anchor="t">
            <a:spAutoFit/>
          </a:bodyPr>
          <a:lstStyle/>
          <a:p>
            <a:pPr algn="ctr"/>
            <a:r>
              <a:rPr sz="1600" b="1" i="0">
                <a:solidFill>
                  <a:srgbClr val="8B2E2A"/>
                </a:solidFill>
                <a:latin typeface="Georgia"/>
              </a:rPr>
              <a:t>Fine-tune</a:t>
            </a:r>
          </a:p>
        </p:txBody>
      </p:sp>
      <p:sp>
        <p:nvSpPr>
          <p:cNvPr id="15" name="TextBox 14"/>
          <p:cNvSpPr txBox="1"/>
          <p:nvPr/>
        </p:nvSpPr>
        <p:spPr>
          <a:xfrm>
            <a:off x="6438747" y="3383280"/>
            <a:ext cx="2194560" cy="1463040"/>
          </a:xfrm>
          <a:prstGeom prst="rect">
            <a:avLst/>
          </a:prstGeom>
          <a:noFill/>
        </p:spPr>
        <p:txBody>
          <a:bodyPr wrap="square" lIns="45720" rIns="45720" tIns="27432" bIns="27432" anchor="t">
            <a:spAutoFit/>
          </a:bodyPr>
          <a:lstStyle/>
          <a:p>
            <a:pPr algn="ctr"/>
            <a:r>
              <a:rPr sz="1000" b="0" i="0">
                <a:solidFill>
                  <a:srgbClr val="1F1F1F"/>
                </a:solidFill>
                <a:latin typeface="Calibri"/>
              </a:rPr>
              <a:t>LoRA adapters on</a:t>
            </a:r>
          </a:p>
          <a:p>
            <a:pPr algn="ctr"/>
            <a:r>
              <a:rPr sz="1000" b="0" i="0">
                <a:solidFill>
                  <a:srgbClr val="1F1F1F"/>
                </a:solidFill>
                <a:latin typeface="Calibri"/>
              </a:rPr>
              <a:t>Qwen2.5-7B-Instruct</a:t>
            </a:r>
          </a:p>
          <a:p>
            <a:pPr algn="ctr"/>
            <a:r>
              <a:rPr sz="1000" b="0" i="0">
                <a:solidFill>
                  <a:srgbClr val="1F1F1F"/>
                </a:solidFill>
                <a:latin typeface="Calibri"/>
              </a:rPr>
              <a:t>over 9,841 examples.</a:t>
            </a:r>
          </a:p>
        </p:txBody>
      </p:sp>
      <p:sp>
        <p:nvSpPr>
          <p:cNvPr id="16" name="Right Arrow 15"/>
          <p:cNvSpPr/>
          <p:nvPr/>
        </p:nvSpPr>
        <p:spPr>
          <a:xfrm>
            <a:off x="8724747" y="3474720"/>
            <a:ext cx="502920" cy="640080"/>
          </a:xfrm>
          <a:prstGeom prst="rightArrow">
            <a:avLst>
              <a:gd name="adj1" fmla="val 50000"/>
              <a:gd name="adj2" fmla="val 35000"/>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27667" y="2606040"/>
            <a:ext cx="2377440" cy="2377440"/>
          </a:xfrm>
          <a:prstGeom prst="roundRect">
            <a:avLst>
              <a:gd name="adj" fmla="val 8000"/>
            </a:avLst>
          </a:prstGeom>
          <a:solidFill>
            <a:srgbClr val="FAF7EF"/>
          </a:solidFill>
          <a:ln w="15875">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19107" y="2834640"/>
            <a:ext cx="2194560" cy="457200"/>
          </a:xfrm>
          <a:prstGeom prst="rect">
            <a:avLst/>
          </a:prstGeom>
          <a:noFill/>
        </p:spPr>
        <p:txBody>
          <a:bodyPr wrap="square" lIns="45720" rIns="45720" tIns="27432" bIns="27432" anchor="t">
            <a:spAutoFit/>
          </a:bodyPr>
          <a:lstStyle/>
          <a:p>
            <a:pPr algn="ctr"/>
            <a:r>
              <a:rPr sz="1600" b="1" i="0">
                <a:solidFill>
                  <a:srgbClr val="8B2E2A"/>
                </a:solidFill>
                <a:latin typeface="Georgia"/>
              </a:rPr>
              <a:t>Evaluate</a:t>
            </a:r>
          </a:p>
        </p:txBody>
      </p:sp>
      <p:sp>
        <p:nvSpPr>
          <p:cNvPr id="19" name="TextBox 18"/>
          <p:cNvSpPr txBox="1"/>
          <p:nvPr/>
        </p:nvSpPr>
        <p:spPr>
          <a:xfrm>
            <a:off x="9319107" y="3383280"/>
            <a:ext cx="2194560" cy="1463040"/>
          </a:xfrm>
          <a:prstGeom prst="rect">
            <a:avLst/>
          </a:prstGeom>
          <a:noFill/>
        </p:spPr>
        <p:txBody>
          <a:bodyPr wrap="square" lIns="45720" rIns="45720" tIns="27432" bIns="27432" anchor="t">
            <a:spAutoFit/>
          </a:bodyPr>
          <a:lstStyle/>
          <a:p>
            <a:pPr algn="ctr"/>
            <a:r>
              <a:rPr sz="1000" b="0" i="0">
                <a:solidFill>
                  <a:srgbClr val="1F1F1F"/>
                </a:solidFill>
                <a:latin typeface="Calibri"/>
              </a:rPr>
              <a:t>ROUGE, BERTScore, and</a:t>
            </a:r>
          </a:p>
          <a:p>
            <a:pPr algn="ctr"/>
            <a:r>
              <a:rPr sz="1000" b="0" i="0">
                <a:solidFill>
                  <a:srgbClr val="1F1F1F"/>
                </a:solidFill>
                <a:latin typeface="Calibri"/>
              </a:rPr>
              <a:t>LLM-as-Judge scoring</a:t>
            </a:r>
          </a:p>
          <a:p>
            <a:pPr algn="ctr"/>
            <a:r>
              <a:rPr sz="1000" b="0" i="0">
                <a:solidFill>
                  <a:srgbClr val="1F1F1F"/>
                </a:solidFill>
                <a:latin typeface="Calibri"/>
              </a:rPr>
              <a:t>on five legal dimensions.</a:t>
            </a:r>
          </a:p>
        </p:txBody>
      </p:sp>
      <p:sp>
        <p:nvSpPr>
          <p:cNvPr id="20" name="TextBox 19"/>
          <p:cNvSpPr txBox="1"/>
          <p:nvPr/>
        </p:nvSpPr>
        <p:spPr>
          <a:xfrm>
            <a:off x="548640" y="5532120"/>
            <a:ext cx="11155680" cy="365760"/>
          </a:xfrm>
          <a:prstGeom prst="rect">
            <a:avLst/>
          </a:prstGeom>
          <a:noFill/>
        </p:spPr>
        <p:txBody>
          <a:bodyPr wrap="square" lIns="45720" rIns="45720" tIns="27432" bIns="27432" anchor="t">
            <a:spAutoFit/>
          </a:bodyPr>
          <a:lstStyle/>
          <a:p>
            <a:pPr algn="ctr"/>
            <a:r>
              <a:rPr sz="1400" b="0" i="1">
                <a:solidFill>
                  <a:srgbClr val="6B6158"/>
                </a:solidFill>
                <a:latin typeface="Georgia"/>
              </a:rPr>
              <a:t>Four stages — every one of them reproducible from the repo we hand off.</a:t>
            </a:r>
          </a:p>
        </p:txBody>
      </p:sp>
      <p:sp>
        <p:nvSpPr>
          <p:cNvPr id="21" name="TextBox 20"/>
          <p:cNvSpPr txBox="1"/>
          <p:nvPr/>
        </p:nvSpPr>
        <p:spPr>
          <a:xfrm>
            <a:off x="548640" y="5943600"/>
            <a:ext cx="11155680" cy="320040"/>
          </a:xfrm>
          <a:prstGeom prst="rect">
            <a:avLst/>
          </a:prstGeom>
          <a:noFill/>
        </p:spPr>
        <p:txBody>
          <a:bodyPr wrap="square" lIns="45720" rIns="45720" tIns="27432" bIns="27432" anchor="t">
            <a:spAutoFit/>
          </a:bodyPr>
          <a:lstStyle/>
          <a:p>
            <a:pPr algn="ctr"/>
            <a:r>
              <a:rPr sz="1100" b="1" i="0">
                <a:solidFill>
                  <a:srgbClr val="8B2E2A"/>
                </a:solidFill>
                <a:latin typeface="Calibri"/>
              </a:rPr>
              <a:t>github.com/thinq8/CivilRightsSummarizedAI</a:t>
            </a:r>
          </a:p>
        </p:txBody>
      </p:sp>
      <p:sp>
        <p:nvSpPr>
          <p:cNvPr id="22" name="Rectangle 21"/>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24" name="TextBox 23"/>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4000" b="1" i="0">
                <a:solidFill>
                  <a:srgbClr val="8B2E2A"/>
                </a:solidFill>
                <a:latin typeface="Georgia"/>
              </a:rPr>
              <a:t>THE REAL CHALLENGE: FRAGMENTATION</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91640"/>
            <a:ext cx="5486400" cy="4480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5486400" cy="365760"/>
          </a:xfrm>
          <a:prstGeom prst="rect">
            <a:avLst/>
          </a:prstGeom>
          <a:noFill/>
        </p:spPr>
        <p:txBody>
          <a:bodyPr wrap="square" lIns="45720" rIns="45720" tIns="27432" bIns="27432" anchor="t">
            <a:spAutoFit/>
          </a:bodyPr>
          <a:lstStyle/>
          <a:p>
            <a:pPr algn="ctr"/>
            <a:r>
              <a:rPr sz="1100" b="1" i="0">
                <a:solidFill>
                  <a:srgbClr val="B5443D"/>
                </a:solidFill>
                <a:latin typeface="Calibri"/>
              </a:rPr>
              <a:t>A TYPICAL CASE</a:t>
            </a:r>
          </a:p>
        </p:txBody>
      </p:sp>
      <p:sp>
        <p:nvSpPr>
          <p:cNvPr id="7" name="TextBox 6"/>
          <p:cNvSpPr txBox="1"/>
          <p:nvPr/>
        </p:nvSpPr>
        <p:spPr>
          <a:xfrm>
            <a:off x="731520" y="2331720"/>
            <a:ext cx="2103120" cy="640080"/>
          </a:xfrm>
          <a:prstGeom prst="rect">
            <a:avLst/>
          </a:prstGeom>
          <a:noFill/>
        </p:spPr>
        <p:txBody>
          <a:bodyPr wrap="square" lIns="45720" rIns="45720" tIns="27432" bIns="27432" anchor="t">
            <a:spAutoFit/>
          </a:bodyPr>
          <a:lstStyle/>
          <a:p>
            <a:pPr algn="r"/>
            <a:r>
              <a:rPr sz="3600" b="1" i="0">
                <a:solidFill>
                  <a:srgbClr val="8B2E2A"/>
                </a:solidFill>
                <a:latin typeface="Georgia"/>
              </a:rPr>
              <a:t>11.6</a:t>
            </a:r>
          </a:p>
        </p:txBody>
      </p:sp>
      <p:sp>
        <p:nvSpPr>
          <p:cNvPr id="8" name="TextBox 7"/>
          <p:cNvSpPr txBox="1"/>
          <p:nvPr/>
        </p:nvSpPr>
        <p:spPr>
          <a:xfrm>
            <a:off x="2926080" y="2514600"/>
            <a:ext cx="3017520" cy="457200"/>
          </a:xfrm>
          <a:prstGeom prst="rect">
            <a:avLst/>
          </a:prstGeom>
          <a:noFill/>
        </p:spPr>
        <p:txBody>
          <a:bodyPr wrap="square" lIns="45720" rIns="45720" tIns="27432" bIns="27432" anchor="t">
            <a:spAutoFit/>
          </a:bodyPr>
          <a:lstStyle/>
          <a:p>
            <a:pPr algn="l"/>
            <a:r>
              <a:rPr sz="1200" b="0" i="0">
                <a:solidFill>
                  <a:srgbClr val="1F1F1F"/>
                </a:solidFill>
                <a:latin typeface="Calibri"/>
              </a:rPr>
              <a:t>median documents per case</a:t>
            </a:r>
          </a:p>
        </p:txBody>
      </p:sp>
      <p:sp>
        <p:nvSpPr>
          <p:cNvPr id="9" name="TextBox 8"/>
          <p:cNvSpPr txBox="1"/>
          <p:nvPr/>
        </p:nvSpPr>
        <p:spPr>
          <a:xfrm>
            <a:off x="731520" y="3246120"/>
            <a:ext cx="2103120" cy="640080"/>
          </a:xfrm>
          <a:prstGeom prst="rect">
            <a:avLst/>
          </a:prstGeom>
          <a:noFill/>
        </p:spPr>
        <p:txBody>
          <a:bodyPr wrap="square" lIns="45720" rIns="45720" tIns="27432" bIns="27432" anchor="t">
            <a:spAutoFit/>
          </a:bodyPr>
          <a:lstStyle/>
          <a:p>
            <a:pPr algn="r"/>
            <a:r>
              <a:rPr sz="3600" b="1" i="0">
                <a:solidFill>
                  <a:srgbClr val="8B2E2A"/>
                </a:solidFill>
                <a:latin typeface="Georgia"/>
              </a:rPr>
              <a:t>405</a:t>
            </a:r>
          </a:p>
        </p:txBody>
      </p:sp>
      <p:sp>
        <p:nvSpPr>
          <p:cNvPr id="10" name="TextBox 9"/>
          <p:cNvSpPr txBox="1"/>
          <p:nvPr/>
        </p:nvSpPr>
        <p:spPr>
          <a:xfrm>
            <a:off x="2926080" y="3429000"/>
            <a:ext cx="3017520" cy="457200"/>
          </a:xfrm>
          <a:prstGeom prst="rect">
            <a:avLst/>
          </a:prstGeom>
          <a:noFill/>
        </p:spPr>
        <p:txBody>
          <a:bodyPr wrap="square" lIns="45720" rIns="45720" tIns="27432" bIns="27432" anchor="t">
            <a:spAutoFit/>
          </a:bodyPr>
          <a:lstStyle/>
          <a:p>
            <a:pPr algn="l"/>
            <a:r>
              <a:rPr sz="1200" b="0" i="0">
                <a:solidFill>
                  <a:srgbClr val="1F1F1F"/>
                </a:solidFill>
                <a:latin typeface="Calibri"/>
              </a:rPr>
              <a:t>maximum documents in one case</a:t>
            </a:r>
          </a:p>
        </p:txBody>
      </p:sp>
      <p:sp>
        <p:nvSpPr>
          <p:cNvPr id="11" name="TextBox 10"/>
          <p:cNvSpPr txBox="1"/>
          <p:nvPr/>
        </p:nvSpPr>
        <p:spPr>
          <a:xfrm>
            <a:off x="731520" y="4160520"/>
            <a:ext cx="2103120" cy="640080"/>
          </a:xfrm>
          <a:prstGeom prst="rect">
            <a:avLst/>
          </a:prstGeom>
          <a:noFill/>
        </p:spPr>
        <p:txBody>
          <a:bodyPr wrap="square" lIns="45720" rIns="45720" tIns="27432" bIns="27432" anchor="t">
            <a:spAutoFit/>
          </a:bodyPr>
          <a:lstStyle/>
          <a:p>
            <a:pPr algn="r"/>
            <a:r>
              <a:rPr sz="3600" b="1" i="0">
                <a:solidFill>
                  <a:srgbClr val="8B2E2A"/>
                </a:solidFill>
                <a:latin typeface="Georgia"/>
              </a:rPr>
              <a:t>27K</a:t>
            </a:r>
          </a:p>
        </p:txBody>
      </p:sp>
      <p:sp>
        <p:nvSpPr>
          <p:cNvPr id="12" name="TextBox 11"/>
          <p:cNvSpPr txBox="1"/>
          <p:nvPr/>
        </p:nvSpPr>
        <p:spPr>
          <a:xfrm>
            <a:off x="2926080" y="4343400"/>
            <a:ext cx="3017520" cy="457200"/>
          </a:xfrm>
          <a:prstGeom prst="rect">
            <a:avLst/>
          </a:prstGeom>
          <a:noFill/>
        </p:spPr>
        <p:txBody>
          <a:bodyPr wrap="square" lIns="45720" rIns="45720" tIns="27432" bIns="27432" anchor="t">
            <a:spAutoFit/>
          </a:bodyPr>
          <a:lstStyle/>
          <a:p>
            <a:pPr algn="l"/>
            <a:r>
              <a:rPr sz="1200" b="0" i="0">
                <a:solidFill>
                  <a:srgbClr val="1F1F1F"/>
                </a:solidFill>
                <a:latin typeface="Calibri"/>
              </a:rPr>
              <a:t>median total tokens</a:t>
            </a:r>
          </a:p>
        </p:txBody>
      </p:sp>
      <p:sp>
        <p:nvSpPr>
          <p:cNvPr id="13" name="TextBox 12"/>
          <p:cNvSpPr txBox="1"/>
          <p:nvPr/>
        </p:nvSpPr>
        <p:spPr>
          <a:xfrm>
            <a:off x="731520" y="5074920"/>
            <a:ext cx="2103120" cy="640080"/>
          </a:xfrm>
          <a:prstGeom prst="rect">
            <a:avLst/>
          </a:prstGeom>
          <a:noFill/>
        </p:spPr>
        <p:txBody>
          <a:bodyPr wrap="square" lIns="45720" rIns="45720" tIns="27432" bIns="27432" anchor="t">
            <a:spAutoFit/>
          </a:bodyPr>
          <a:lstStyle/>
          <a:p>
            <a:pPr algn="r"/>
            <a:r>
              <a:rPr sz="3600" b="1" i="0">
                <a:solidFill>
                  <a:srgbClr val="8B2E2A"/>
                </a:solidFill>
                <a:latin typeface="Georgia"/>
              </a:rPr>
              <a:t>55%</a:t>
            </a:r>
          </a:p>
        </p:txBody>
      </p:sp>
      <p:sp>
        <p:nvSpPr>
          <p:cNvPr id="14" name="TextBox 13"/>
          <p:cNvSpPr txBox="1"/>
          <p:nvPr/>
        </p:nvSpPr>
        <p:spPr>
          <a:xfrm>
            <a:off x="2926080" y="5257800"/>
            <a:ext cx="3017520" cy="457200"/>
          </a:xfrm>
          <a:prstGeom prst="rect">
            <a:avLst/>
          </a:prstGeom>
          <a:noFill/>
        </p:spPr>
        <p:txBody>
          <a:bodyPr wrap="square" lIns="45720" rIns="45720" tIns="27432" bIns="27432" anchor="t">
            <a:spAutoFit/>
          </a:bodyPr>
          <a:lstStyle/>
          <a:p>
            <a:pPr algn="l"/>
            <a:r>
              <a:rPr sz="1200" b="0" i="0">
                <a:solidFill>
                  <a:srgbClr val="1F1F1F"/>
                </a:solidFill>
                <a:latin typeface="Calibri"/>
              </a:rPr>
              <a:t>of cases fit the 32K context window</a:t>
            </a:r>
          </a:p>
        </p:txBody>
      </p:sp>
      <p:sp>
        <p:nvSpPr>
          <p:cNvPr id="15" name="Rounded Rectangle 14"/>
          <p:cNvSpPr/>
          <p:nvPr/>
        </p:nvSpPr>
        <p:spPr>
          <a:xfrm>
            <a:off x="6400800" y="1691640"/>
            <a:ext cx="5303520" cy="4480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20240"/>
            <a:ext cx="5303520" cy="365760"/>
          </a:xfrm>
          <a:prstGeom prst="rect">
            <a:avLst/>
          </a:prstGeom>
          <a:noFill/>
        </p:spPr>
        <p:txBody>
          <a:bodyPr wrap="square" lIns="45720" rIns="45720" tIns="27432" bIns="27432" anchor="t">
            <a:spAutoFit/>
          </a:bodyPr>
          <a:lstStyle/>
          <a:p>
            <a:pPr algn="ctr"/>
            <a:r>
              <a:rPr sz="1100" b="1" i="0">
                <a:solidFill>
                  <a:srgbClr val="B5443D"/>
                </a:solidFill>
                <a:latin typeface="Calibri"/>
              </a:rPr>
              <a:t>WHY IT BREAKS TRAINING</a:t>
            </a:r>
          </a:p>
        </p:txBody>
      </p:sp>
      <p:sp>
        <p:nvSpPr>
          <p:cNvPr id="17" name="Rectangle 16"/>
          <p:cNvSpPr/>
          <p:nvPr/>
        </p:nvSpPr>
        <p:spPr>
          <a:xfrm>
            <a:off x="6858000" y="2880360"/>
            <a:ext cx="4389120" cy="19050"/>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2560320"/>
            <a:ext cx="4389120" cy="274320"/>
          </a:xfrm>
          <a:prstGeom prst="rect">
            <a:avLst/>
          </a:prstGeom>
          <a:noFill/>
        </p:spPr>
        <p:txBody>
          <a:bodyPr wrap="square" lIns="45720" rIns="45720" tIns="27432" bIns="27432" anchor="t">
            <a:spAutoFit/>
          </a:bodyPr>
          <a:lstStyle/>
          <a:p>
            <a:pPr algn="r"/>
            <a:r>
              <a:rPr sz="1000" b="1" i="0">
                <a:solidFill>
                  <a:srgbClr val="8B2E2A"/>
                </a:solidFill>
                <a:latin typeface="Calibri"/>
              </a:rPr>
              <a:t>32K CONTEXT WINDOW</a:t>
            </a:r>
          </a:p>
        </p:txBody>
      </p:sp>
      <p:sp>
        <p:nvSpPr>
          <p:cNvPr id="19" name="Rectangle 18"/>
          <p:cNvSpPr/>
          <p:nvPr/>
        </p:nvSpPr>
        <p:spPr>
          <a:xfrm>
            <a:off x="7680960" y="2560320"/>
            <a:ext cx="2743200" cy="320040"/>
          </a:xfrm>
          <a:prstGeom prst="rect">
            <a:avLst/>
          </a:prstGeom>
          <a:solidFill>
            <a:srgbClr val="B5443D"/>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80960" y="2148840"/>
            <a:ext cx="2743200" cy="365760"/>
          </a:xfrm>
          <a:prstGeom prst="rect">
            <a:avLst/>
          </a:prstGeom>
          <a:solidFill>
            <a:srgbClr val="B5443D"/>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80960" y="1600200"/>
            <a:ext cx="2743200" cy="502920"/>
          </a:xfrm>
          <a:prstGeom prst="rect">
            <a:avLst/>
          </a:prstGeom>
          <a:solidFill>
            <a:srgbClr val="8B2E2A"/>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80960" y="1143000"/>
            <a:ext cx="2743200" cy="411480"/>
          </a:xfrm>
          <a:prstGeom prst="rect">
            <a:avLst/>
          </a:prstGeom>
          <a:solidFill>
            <a:srgbClr val="8B2E2A"/>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0" y="548640"/>
            <a:ext cx="2743200" cy="548640"/>
          </a:xfrm>
          <a:prstGeom prst="rect">
            <a:avLst/>
          </a:prstGeom>
          <a:solidFill>
            <a:srgbClr val="8B2E2A"/>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80" y="2286000"/>
            <a:ext cx="548640" cy="548640"/>
          </a:xfrm>
          <a:prstGeom prst="rect">
            <a:avLst/>
          </a:prstGeom>
          <a:solidFill>
            <a:srgbClr val="8B2E2A"/>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0" y="2286000"/>
            <a:ext cx="548640" cy="548640"/>
          </a:xfrm>
          <a:prstGeom prst="rect">
            <a:avLst/>
          </a:prstGeom>
          <a:noFill/>
        </p:spPr>
        <p:txBody>
          <a:bodyPr wrap="square" lIns="45720" rIns="45720" tIns="27432" bIns="27432" anchor="ctr">
            <a:spAutoFit/>
          </a:bodyPr>
          <a:lstStyle/>
          <a:p>
            <a:pPr algn="ctr"/>
            <a:r>
              <a:rPr sz="2800" b="1" i="0">
                <a:solidFill>
                  <a:srgbClr val="FAF7EF"/>
                </a:solidFill>
                <a:latin typeface="Georgia"/>
              </a:rPr>
              <a:t>!</a:t>
            </a:r>
          </a:p>
        </p:txBody>
      </p:sp>
      <p:sp>
        <p:nvSpPr>
          <p:cNvPr id="26" name="TextBox 25"/>
          <p:cNvSpPr txBox="1"/>
          <p:nvPr/>
        </p:nvSpPr>
        <p:spPr>
          <a:xfrm>
            <a:off x="6766560" y="4846320"/>
            <a:ext cx="4572000" cy="1280160"/>
          </a:xfrm>
          <a:prstGeom prst="rect">
            <a:avLst/>
          </a:prstGeom>
          <a:noFill/>
        </p:spPr>
        <p:txBody>
          <a:bodyPr wrap="square" lIns="45720" rIns="45720" tIns="27432" bIns="27432" anchor="t">
            <a:spAutoFit/>
          </a:bodyPr>
          <a:lstStyle/>
          <a:p>
            <a:pPr algn="ctr"/>
            <a:r>
              <a:rPr sz="1200" b="0" i="1">
                <a:solidFill>
                  <a:srgbClr val="1F1F1F"/>
                </a:solidFill>
                <a:latin typeface="Calibri"/>
              </a:rPr>
              <a:t>Our first training run used raw concatenated documents.</a:t>
            </a:r>
          </a:p>
          <a:p>
            <a:pPr algn="ctr"/>
            <a:r>
              <a:rPr sz="1200" b="0" i="1">
                <a:solidFill>
                  <a:srgbClr val="1F1F1F"/>
                </a:solidFill>
                <a:latin typeface="Calibri"/>
              </a:rPr>
              <a:t>Loss spiked past 5,000. Eval loss went NaN.</a:t>
            </a:r>
          </a:p>
          <a:p>
            <a:pPr algn="ctr"/>
            <a:r>
              <a:rPr sz="1200" b="0" i="1">
                <a:solidFill>
                  <a:srgbClr val="1F1F1F"/>
                </a:solidFill>
                <a:latin typeface="Calibri"/>
              </a:rPr>
              <a:t>The model was drowning in tokens it couldn't see.</a:t>
            </a:r>
          </a:p>
        </p:txBody>
      </p:sp>
      <p:sp>
        <p:nvSpPr>
          <p:cNvPr id="27" name="Rectangle 26"/>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29" name="TextBox 28"/>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4000" b="1" i="0">
                <a:solidFill>
                  <a:srgbClr val="8B2E2A"/>
                </a:solidFill>
                <a:latin typeface="Georgia"/>
              </a:rPr>
              <a:t>OUR FIX: EXTRACT-FIRST</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11155680" cy="457200"/>
          </a:xfrm>
          <a:prstGeom prst="rect">
            <a:avLst/>
          </a:prstGeom>
          <a:noFill/>
        </p:spPr>
        <p:txBody>
          <a:bodyPr wrap="square" lIns="45720" rIns="45720" tIns="27432" bIns="27432" anchor="t">
            <a:spAutoFit/>
          </a:bodyPr>
          <a:lstStyle/>
          <a:p>
            <a:pPr algn="ctr"/>
            <a:r>
              <a:rPr sz="1600" b="0" i="1">
                <a:solidFill>
                  <a:srgbClr val="6B6158"/>
                </a:solidFill>
                <a:latin typeface="Georgia"/>
              </a:rPr>
              <a:t>Two stages. Facts first, synthesis second.</a:t>
            </a:r>
          </a:p>
        </p:txBody>
      </p:sp>
      <p:sp>
        <p:nvSpPr>
          <p:cNvPr id="6" name="Rounded Rectangle 5"/>
          <p:cNvSpPr/>
          <p:nvPr/>
        </p:nvSpPr>
        <p:spPr>
          <a:xfrm>
            <a:off x="731520" y="2423160"/>
            <a:ext cx="3291840" cy="2194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0320"/>
            <a:ext cx="3291840" cy="320040"/>
          </a:xfrm>
          <a:prstGeom prst="rect">
            <a:avLst/>
          </a:prstGeom>
          <a:noFill/>
        </p:spPr>
        <p:txBody>
          <a:bodyPr wrap="square" lIns="45720" rIns="45720" tIns="27432" bIns="27432" anchor="t">
            <a:spAutoFit/>
          </a:bodyPr>
          <a:lstStyle/>
          <a:p>
            <a:pPr algn="ctr"/>
            <a:r>
              <a:rPr sz="1000" b="1" i="0">
                <a:solidFill>
                  <a:srgbClr val="B5443D"/>
                </a:solidFill>
                <a:latin typeface="Calibri"/>
              </a:rPr>
              <a:t>RAW CASE</a:t>
            </a:r>
          </a:p>
        </p:txBody>
      </p:sp>
      <p:sp>
        <p:nvSpPr>
          <p:cNvPr id="8" name="TextBox 7"/>
          <p:cNvSpPr txBox="1"/>
          <p:nvPr/>
        </p:nvSpPr>
        <p:spPr>
          <a:xfrm>
            <a:off x="731520" y="2880360"/>
            <a:ext cx="3291840" cy="548640"/>
          </a:xfrm>
          <a:prstGeom prst="rect">
            <a:avLst/>
          </a:prstGeom>
          <a:noFill/>
        </p:spPr>
        <p:txBody>
          <a:bodyPr wrap="square" lIns="45720" rIns="45720" tIns="27432" bIns="27432" anchor="t">
            <a:spAutoFit/>
          </a:bodyPr>
          <a:lstStyle/>
          <a:p>
            <a:pPr algn="ctr"/>
            <a:r>
              <a:rPr sz="3400" b="1" i="0">
                <a:solidFill>
                  <a:srgbClr val="8B2E2A"/>
                </a:solidFill>
                <a:latin typeface="Georgia"/>
              </a:rPr>
              <a:t>27,000</a:t>
            </a:r>
          </a:p>
        </p:txBody>
      </p:sp>
      <p:sp>
        <p:nvSpPr>
          <p:cNvPr id="9" name="TextBox 8"/>
          <p:cNvSpPr txBox="1"/>
          <p:nvPr/>
        </p:nvSpPr>
        <p:spPr>
          <a:xfrm>
            <a:off x="731520" y="3474720"/>
            <a:ext cx="3291840" cy="365760"/>
          </a:xfrm>
          <a:prstGeom prst="rect">
            <a:avLst/>
          </a:prstGeom>
          <a:noFill/>
        </p:spPr>
        <p:txBody>
          <a:bodyPr wrap="square" lIns="45720" rIns="45720" tIns="27432" bIns="27432" anchor="t">
            <a:spAutoFit/>
          </a:bodyPr>
          <a:lstStyle/>
          <a:p>
            <a:pPr algn="ctr"/>
            <a:r>
              <a:rPr sz="1200" b="0" i="0">
                <a:solidFill>
                  <a:srgbClr val="1F1F1F"/>
                </a:solidFill>
                <a:latin typeface="Calibri"/>
              </a:rPr>
              <a:t>tokens of filings</a:t>
            </a:r>
          </a:p>
        </p:txBody>
      </p:sp>
      <p:sp>
        <p:nvSpPr>
          <p:cNvPr id="10" name="Rectangle 9"/>
          <p:cNvSpPr/>
          <p:nvPr/>
        </p:nvSpPr>
        <p:spPr>
          <a:xfrm>
            <a:off x="1828800" y="3840480"/>
            <a:ext cx="1097280" cy="502920"/>
          </a:xfrm>
          <a:prstGeom prst="rect">
            <a:avLst/>
          </a:prstGeom>
          <a:solidFill>
            <a:srgbClr val="FAF7EF"/>
          </a:solidFill>
          <a:ln w="9525">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74520" y="3886200"/>
            <a:ext cx="1097280" cy="502920"/>
          </a:xfrm>
          <a:prstGeom prst="rect">
            <a:avLst/>
          </a:prstGeom>
          <a:solidFill>
            <a:srgbClr val="FAF7EF"/>
          </a:solidFill>
          <a:ln w="9525">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0240" y="3931920"/>
            <a:ext cx="1097280" cy="502920"/>
          </a:xfrm>
          <a:prstGeom prst="rect">
            <a:avLst/>
          </a:prstGeom>
          <a:solidFill>
            <a:srgbClr val="FAF7EF"/>
          </a:solidFill>
          <a:ln w="9525">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65960" y="3977640"/>
            <a:ext cx="1097280" cy="502920"/>
          </a:xfrm>
          <a:prstGeom prst="rect">
            <a:avLst/>
          </a:prstGeom>
          <a:solidFill>
            <a:srgbClr val="B5443D"/>
          </a:solidFill>
          <a:ln w="9525">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4160520" y="3246120"/>
            <a:ext cx="548640" cy="548640"/>
          </a:xfrm>
          <a:prstGeom prst="rightArrow">
            <a:avLst>
              <a:gd name="adj1" fmla="val 50000"/>
              <a:gd name="adj2" fmla="val 35000"/>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86200" y="3840480"/>
            <a:ext cx="1097280" cy="320040"/>
          </a:xfrm>
          <a:prstGeom prst="rect">
            <a:avLst/>
          </a:prstGeom>
          <a:noFill/>
        </p:spPr>
        <p:txBody>
          <a:bodyPr wrap="square" lIns="45720" rIns="45720" tIns="27432" bIns="27432" anchor="t">
            <a:spAutoFit/>
          </a:bodyPr>
          <a:lstStyle/>
          <a:p>
            <a:pPr algn="ctr"/>
            <a:r>
              <a:rPr sz="900" b="0" i="1">
                <a:solidFill>
                  <a:srgbClr val="6B6158"/>
                </a:solidFill>
                <a:latin typeface="Calibri"/>
              </a:rPr>
              <a:t>Claude extracts</a:t>
            </a:r>
          </a:p>
          <a:p>
            <a:pPr algn="ctr"/>
            <a:r>
              <a:rPr sz="900" b="0" i="1">
                <a:solidFill>
                  <a:srgbClr val="6B6158"/>
                </a:solidFill>
                <a:latin typeface="Calibri"/>
              </a:rPr>
              <a:t>structured facts</a:t>
            </a:r>
          </a:p>
        </p:txBody>
      </p:sp>
      <p:sp>
        <p:nvSpPr>
          <p:cNvPr id="16" name="Rounded Rectangle 15"/>
          <p:cNvSpPr/>
          <p:nvPr/>
        </p:nvSpPr>
        <p:spPr>
          <a:xfrm>
            <a:off x="4892040" y="2423160"/>
            <a:ext cx="3291840" cy="2194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92040" y="2560320"/>
            <a:ext cx="3291840" cy="320040"/>
          </a:xfrm>
          <a:prstGeom prst="rect">
            <a:avLst/>
          </a:prstGeom>
          <a:noFill/>
        </p:spPr>
        <p:txBody>
          <a:bodyPr wrap="square" lIns="45720" rIns="45720" tIns="27432" bIns="27432" anchor="t">
            <a:spAutoFit/>
          </a:bodyPr>
          <a:lstStyle/>
          <a:p>
            <a:pPr algn="ctr"/>
            <a:r>
              <a:rPr sz="1000" b="1" i="0">
                <a:solidFill>
                  <a:srgbClr val="B5443D"/>
                </a:solidFill>
                <a:latin typeface="Calibri"/>
              </a:rPr>
              <a:t>STRUCTURED FACTS</a:t>
            </a:r>
          </a:p>
        </p:txBody>
      </p:sp>
      <p:sp>
        <p:nvSpPr>
          <p:cNvPr id="18" name="TextBox 17"/>
          <p:cNvSpPr txBox="1"/>
          <p:nvPr/>
        </p:nvSpPr>
        <p:spPr>
          <a:xfrm>
            <a:off x="4892040" y="2880360"/>
            <a:ext cx="3291840" cy="548640"/>
          </a:xfrm>
          <a:prstGeom prst="rect">
            <a:avLst/>
          </a:prstGeom>
          <a:noFill/>
        </p:spPr>
        <p:txBody>
          <a:bodyPr wrap="square" lIns="45720" rIns="45720" tIns="27432" bIns="27432" anchor="t">
            <a:spAutoFit/>
          </a:bodyPr>
          <a:lstStyle/>
          <a:p>
            <a:pPr algn="ctr"/>
            <a:r>
              <a:rPr sz="3400" b="1" i="0">
                <a:solidFill>
                  <a:srgbClr val="8B2E2A"/>
                </a:solidFill>
                <a:latin typeface="Georgia"/>
              </a:rPr>
              <a:t>4,500</a:t>
            </a:r>
          </a:p>
        </p:txBody>
      </p:sp>
      <p:sp>
        <p:nvSpPr>
          <p:cNvPr id="19" name="TextBox 18"/>
          <p:cNvSpPr txBox="1"/>
          <p:nvPr/>
        </p:nvSpPr>
        <p:spPr>
          <a:xfrm>
            <a:off x="4892040" y="3474720"/>
            <a:ext cx="3291840" cy="365760"/>
          </a:xfrm>
          <a:prstGeom prst="rect">
            <a:avLst/>
          </a:prstGeom>
          <a:noFill/>
        </p:spPr>
        <p:txBody>
          <a:bodyPr wrap="square" lIns="45720" rIns="45720" tIns="27432" bIns="27432" anchor="t">
            <a:spAutoFit/>
          </a:bodyPr>
          <a:lstStyle/>
          <a:p>
            <a:pPr algn="ctr"/>
            <a:r>
              <a:rPr sz="1200" b="0" i="0">
                <a:solidFill>
                  <a:srgbClr val="1F1F1F"/>
                </a:solidFill>
                <a:latin typeface="Calibri"/>
              </a:rPr>
              <a:t>tokens, all documents</a:t>
            </a:r>
          </a:p>
        </p:txBody>
      </p:sp>
      <p:sp>
        <p:nvSpPr>
          <p:cNvPr id="20" name="Rectangle 19"/>
          <p:cNvSpPr/>
          <p:nvPr/>
        </p:nvSpPr>
        <p:spPr>
          <a:xfrm>
            <a:off x="5715000" y="3886200"/>
            <a:ext cx="164592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715000" y="4023360"/>
            <a:ext cx="164592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15000" y="4160520"/>
            <a:ext cx="164592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15000" y="4297680"/>
            <a:ext cx="164592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8321040" y="3246120"/>
            <a:ext cx="548640" cy="548640"/>
          </a:xfrm>
          <a:prstGeom prst="rightArrow">
            <a:avLst>
              <a:gd name="adj1" fmla="val 50000"/>
              <a:gd name="adj2" fmla="val 35000"/>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3840480"/>
            <a:ext cx="1097280" cy="320040"/>
          </a:xfrm>
          <a:prstGeom prst="rect">
            <a:avLst/>
          </a:prstGeom>
          <a:noFill/>
        </p:spPr>
        <p:txBody>
          <a:bodyPr wrap="square" lIns="45720" rIns="45720" tIns="27432" bIns="27432" anchor="t">
            <a:spAutoFit/>
          </a:bodyPr>
          <a:lstStyle/>
          <a:p>
            <a:pPr algn="ctr"/>
            <a:r>
              <a:rPr sz="900" b="0" i="1">
                <a:solidFill>
                  <a:srgbClr val="6B6158"/>
                </a:solidFill>
                <a:latin typeface="Calibri"/>
              </a:rPr>
              <a:t>model learns</a:t>
            </a:r>
          </a:p>
          <a:p>
            <a:pPr algn="ctr"/>
            <a:r>
              <a:rPr sz="900" b="0" i="1">
                <a:solidFill>
                  <a:srgbClr val="6B6158"/>
                </a:solidFill>
                <a:latin typeface="Calibri"/>
              </a:rPr>
              <a:t>synthesis task</a:t>
            </a:r>
          </a:p>
        </p:txBody>
      </p:sp>
      <p:sp>
        <p:nvSpPr>
          <p:cNvPr id="26" name="Rounded Rectangle 25"/>
          <p:cNvSpPr/>
          <p:nvPr/>
        </p:nvSpPr>
        <p:spPr>
          <a:xfrm>
            <a:off x="9052560" y="2423160"/>
            <a:ext cx="2560320" cy="2194560"/>
          </a:xfrm>
          <a:prstGeom prst="roundRect">
            <a:avLst>
              <a:gd name="adj" fmla="val 8000"/>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52560" y="2560320"/>
            <a:ext cx="2560320" cy="320040"/>
          </a:xfrm>
          <a:prstGeom prst="rect">
            <a:avLst/>
          </a:prstGeom>
          <a:noFill/>
        </p:spPr>
        <p:txBody>
          <a:bodyPr wrap="square" lIns="45720" rIns="45720" tIns="27432" bIns="27432" anchor="t">
            <a:spAutoFit/>
          </a:bodyPr>
          <a:lstStyle/>
          <a:p>
            <a:pPr algn="ctr"/>
            <a:r>
              <a:rPr sz="900" b="1" i="0">
                <a:solidFill>
                  <a:srgbClr val="B5443D"/>
                </a:solidFill>
                <a:latin typeface="Calibri"/>
              </a:rPr>
              <a:t>CLEARINGHOUSE SUMMARY</a:t>
            </a:r>
          </a:p>
        </p:txBody>
      </p:sp>
      <p:sp>
        <p:nvSpPr>
          <p:cNvPr id="28" name="TextBox 27"/>
          <p:cNvSpPr txBox="1"/>
          <p:nvPr/>
        </p:nvSpPr>
        <p:spPr>
          <a:xfrm>
            <a:off x="9052560" y="2971800"/>
            <a:ext cx="2560320" cy="640080"/>
          </a:xfrm>
          <a:prstGeom prst="rect">
            <a:avLst/>
          </a:prstGeom>
          <a:noFill/>
        </p:spPr>
        <p:txBody>
          <a:bodyPr wrap="square" lIns="45720" rIns="45720" tIns="27432" bIns="27432" anchor="t">
            <a:spAutoFit/>
          </a:bodyPr>
          <a:lstStyle/>
          <a:p>
            <a:pPr algn="ctr"/>
            <a:r>
              <a:rPr sz="4400" b="1" i="0">
                <a:solidFill>
                  <a:srgbClr val="FAF7EF"/>
                </a:solidFill>
                <a:latin typeface="Georgia"/>
              </a:rPr>
              <a:t>98%</a:t>
            </a:r>
          </a:p>
        </p:txBody>
      </p:sp>
      <p:sp>
        <p:nvSpPr>
          <p:cNvPr id="29" name="TextBox 28"/>
          <p:cNvSpPr txBox="1"/>
          <p:nvPr/>
        </p:nvSpPr>
        <p:spPr>
          <a:xfrm>
            <a:off x="9052560" y="3657600"/>
            <a:ext cx="2560320" cy="365760"/>
          </a:xfrm>
          <a:prstGeom prst="rect">
            <a:avLst/>
          </a:prstGeom>
          <a:noFill/>
        </p:spPr>
        <p:txBody>
          <a:bodyPr wrap="square" lIns="45720" rIns="45720" tIns="27432" bIns="27432" anchor="t">
            <a:spAutoFit/>
          </a:bodyPr>
          <a:lstStyle/>
          <a:p>
            <a:pPr algn="ctr"/>
            <a:r>
              <a:rPr sz="1100" b="0" i="0">
                <a:solidFill>
                  <a:srgbClr val="FAF7EF"/>
                </a:solidFill>
                <a:latin typeface="Calibri"/>
              </a:rPr>
              <a:t>fit rate in context</a:t>
            </a:r>
          </a:p>
        </p:txBody>
      </p:sp>
      <p:sp>
        <p:nvSpPr>
          <p:cNvPr id="30" name="TextBox 29"/>
          <p:cNvSpPr txBox="1"/>
          <p:nvPr/>
        </p:nvSpPr>
        <p:spPr>
          <a:xfrm>
            <a:off x="9235440" y="4023360"/>
            <a:ext cx="2194560" cy="457200"/>
          </a:xfrm>
          <a:prstGeom prst="rect">
            <a:avLst/>
          </a:prstGeom>
          <a:noFill/>
        </p:spPr>
        <p:txBody>
          <a:bodyPr wrap="square" lIns="45720" rIns="45720" tIns="27432" bIns="27432" anchor="t">
            <a:spAutoFit/>
          </a:bodyPr>
          <a:lstStyle/>
          <a:p>
            <a:pPr algn="ctr"/>
            <a:r>
              <a:rPr sz="1000" b="0" i="1">
                <a:solidFill>
                  <a:srgbClr val="FAF7EF"/>
                </a:solidFill>
                <a:latin typeface="Georgia"/>
              </a:rPr>
              <a:t>All documents represented.</a:t>
            </a:r>
          </a:p>
        </p:txBody>
      </p:sp>
      <p:sp>
        <p:nvSpPr>
          <p:cNvPr id="31" name="TextBox 30"/>
          <p:cNvSpPr txBox="1"/>
          <p:nvPr/>
        </p:nvSpPr>
        <p:spPr>
          <a:xfrm>
            <a:off x="548640" y="5029200"/>
            <a:ext cx="11155680" cy="457200"/>
          </a:xfrm>
          <a:prstGeom prst="rect">
            <a:avLst/>
          </a:prstGeom>
          <a:noFill/>
        </p:spPr>
        <p:txBody>
          <a:bodyPr wrap="square" lIns="45720" rIns="45720" tIns="27432" bIns="27432" anchor="t">
            <a:spAutoFit/>
          </a:bodyPr>
          <a:lstStyle/>
          <a:p>
            <a:pPr algn="ctr"/>
            <a:r>
              <a:rPr sz="1400" b="1" i="0">
                <a:solidFill>
                  <a:srgbClr val="8B2E2A"/>
                </a:solidFill>
                <a:latin typeface="Georgia"/>
              </a:rPr>
              <a:t>From 27K tokens of one case to 4.5K tokens of facts — without dropping a single filing.</a:t>
            </a:r>
          </a:p>
        </p:txBody>
      </p:sp>
      <p:sp>
        <p:nvSpPr>
          <p:cNvPr id="32" name="TextBox 31"/>
          <p:cNvSpPr txBox="1"/>
          <p:nvPr/>
        </p:nvSpPr>
        <p:spPr>
          <a:xfrm>
            <a:off x="548640" y="5486400"/>
            <a:ext cx="11155680" cy="457200"/>
          </a:xfrm>
          <a:prstGeom prst="rect">
            <a:avLst/>
          </a:prstGeom>
          <a:noFill/>
        </p:spPr>
        <p:txBody>
          <a:bodyPr wrap="square" lIns="45720" rIns="45720" tIns="27432" bIns="27432" anchor="t">
            <a:spAutoFit/>
          </a:bodyPr>
          <a:lstStyle/>
          <a:p>
            <a:pPr algn="ctr"/>
            <a:r>
              <a:rPr sz="1200" b="0" i="1">
                <a:solidFill>
                  <a:srgbClr val="6B6158"/>
                </a:solidFill>
                <a:latin typeface="Georgia"/>
              </a:rPr>
              <a:t>This one change is what made every downstream result possible.</a:t>
            </a:r>
          </a:p>
        </p:txBody>
      </p:sp>
      <p:sp>
        <p:nvSpPr>
          <p:cNvPr id="33" name="Rectangle 32"/>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35" name="TextBox 34"/>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4000" b="1" i="0">
                <a:solidFill>
                  <a:srgbClr val="8B2E2A"/>
                </a:solidFill>
                <a:latin typeface="Georgia"/>
              </a:rPr>
              <a:t>FINE-TUNING WITH LORA</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91640"/>
            <a:ext cx="5486400" cy="4480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65960"/>
            <a:ext cx="5486400" cy="365760"/>
          </a:xfrm>
          <a:prstGeom prst="rect">
            <a:avLst/>
          </a:prstGeom>
          <a:noFill/>
        </p:spPr>
        <p:txBody>
          <a:bodyPr wrap="square" lIns="45720" rIns="45720" tIns="27432" bIns="27432" anchor="t">
            <a:spAutoFit/>
          </a:bodyPr>
          <a:lstStyle/>
          <a:p>
            <a:pPr algn="ctr"/>
            <a:r>
              <a:rPr sz="1100" b="1" i="0">
                <a:solidFill>
                  <a:srgbClr val="B5443D"/>
                </a:solidFill>
                <a:latin typeface="Calibri"/>
              </a:rPr>
              <a:t>BASE MODEL</a:t>
            </a:r>
          </a:p>
        </p:txBody>
      </p:sp>
      <p:sp>
        <p:nvSpPr>
          <p:cNvPr id="7" name="TextBox 6"/>
          <p:cNvSpPr txBox="1"/>
          <p:nvPr/>
        </p:nvSpPr>
        <p:spPr>
          <a:xfrm>
            <a:off x="548640" y="2286000"/>
            <a:ext cx="5486400" cy="731520"/>
          </a:xfrm>
          <a:prstGeom prst="rect">
            <a:avLst/>
          </a:prstGeom>
          <a:noFill/>
        </p:spPr>
        <p:txBody>
          <a:bodyPr wrap="square" lIns="45720" rIns="45720" tIns="27432" bIns="27432" anchor="t">
            <a:spAutoFit/>
          </a:bodyPr>
          <a:lstStyle/>
          <a:p>
            <a:pPr algn="ctr"/>
            <a:r>
              <a:rPr sz="2800" b="1" i="0">
                <a:solidFill>
                  <a:srgbClr val="8B2E2A"/>
                </a:solidFill>
                <a:latin typeface="Georgia"/>
              </a:rPr>
              <a:t>Qwen2.5-7B-Instruct</a:t>
            </a:r>
          </a:p>
        </p:txBody>
      </p:sp>
      <p:sp>
        <p:nvSpPr>
          <p:cNvPr id="8" name="TextBox 7"/>
          <p:cNvSpPr txBox="1"/>
          <p:nvPr/>
        </p:nvSpPr>
        <p:spPr>
          <a:xfrm>
            <a:off x="548640" y="3017520"/>
            <a:ext cx="5486400" cy="365760"/>
          </a:xfrm>
          <a:prstGeom prst="rect">
            <a:avLst/>
          </a:prstGeom>
          <a:noFill/>
        </p:spPr>
        <p:txBody>
          <a:bodyPr wrap="square" lIns="45720" rIns="45720" tIns="27432" bIns="27432" anchor="t">
            <a:spAutoFit/>
          </a:bodyPr>
          <a:lstStyle/>
          <a:p>
            <a:pPr algn="ctr"/>
            <a:r>
              <a:rPr sz="1100" b="0" i="1">
                <a:solidFill>
                  <a:srgbClr val="6B6158"/>
                </a:solidFill>
                <a:latin typeface="Georgia"/>
              </a:rPr>
              <a:t>open-weights  ·  32K context  ·  single-GPU deployable</a:t>
            </a:r>
          </a:p>
        </p:txBody>
      </p:sp>
      <p:sp>
        <p:nvSpPr>
          <p:cNvPr id="9" name="TextBox 8"/>
          <p:cNvSpPr txBox="1"/>
          <p:nvPr/>
        </p:nvSpPr>
        <p:spPr>
          <a:xfrm>
            <a:off x="822960" y="3611880"/>
            <a:ext cx="4937760" cy="320040"/>
          </a:xfrm>
          <a:prstGeom prst="rect">
            <a:avLst/>
          </a:prstGeom>
          <a:noFill/>
        </p:spPr>
        <p:txBody>
          <a:bodyPr wrap="square" lIns="45720" rIns="45720" tIns="27432" bIns="27432" anchor="t">
            <a:spAutoFit/>
          </a:bodyPr>
          <a:lstStyle/>
          <a:p>
            <a:pPr algn="l"/>
            <a:r>
              <a:rPr sz="1000" b="1" i="0">
                <a:solidFill>
                  <a:srgbClr val="B5443D"/>
                </a:solidFill>
                <a:latin typeface="Calibri"/>
              </a:rPr>
              <a:t>TRAINING CONFIG</a:t>
            </a:r>
          </a:p>
        </p:txBody>
      </p:sp>
      <p:sp>
        <p:nvSpPr>
          <p:cNvPr id="10" name="Rectangle 9"/>
          <p:cNvSpPr/>
          <p:nvPr/>
        </p:nvSpPr>
        <p:spPr>
          <a:xfrm>
            <a:off x="822960" y="3886200"/>
            <a:ext cx="4754880" cy="9525"/>
          </a:xfrm>
          <a:prstGeom prst="rect">
            <a:avLst/>
          </a:prstGeom>
          <a:solidFill>
            <a:srgbClr val="D9D1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023360"/>
            <a:ext cx="1554480" cy="274320"/>
          </a:xfrm>
          <a:prstGeom prst="rect">
            <a:avLst/>
          </a:prstGeom>
          <a:noFill/>
        </p:spPr>
        <p:txBody>
          <a:bodyPr wrap="square" lIns="45720" rIns="45720" tIns="27432" bIns="27432" anchor="t">
            <a:spAutoFit/>
          </a:bodyPr>
          <a:lstStyle/>
          <a:p>
            <a:pPr algn="l"/>
            <a:r>
              <a:rPr sz="1100" b="1" i="0">
                <a:solidFill>
                  <a:srgbClr val="1F1F1F"/>
                </a:solidFill>
                <a:latin typeface="Calibri"/>
              </a:rPr>
              <a:t>Adapter</a:t>
            </a:r>
          </a:p>
        </p:txBody>
      </p:sp>
      <p:sp>
        <p:nvSpPr>
          <p:cNvPr id="12" name="TextBox 11"/>
          <p:cNvSpPr txBox="1"/>
          <p:nvPr/>
        </p:nvSpPr>
        <p:spPr>
          <a:xfrm>
            <a:off x="2377440" y="4023360"/>
            <a:ext cx="3291840" cy="274320"/>
          </a:xfrm>
          <a:prstGeom prst="rect">
            <a:avLst/>
          </a:prstGeom>
          <a:noFill/>
        </p:spPr>
        <p:txBody>
          <a:bodyPr wrap="square" lIns="45720" rIns="45720" tIns="27432" bIns="27432" anchor="t">
            <a:spAutoFit/>
          </a:bodyPr>
          <a:lstStyle/>
          <a:p>
            <a:pPr algn="l"/>
            <a:r>
              <a:rPr sz="1100" b="0" i="0">
                <a:solidFill>
                  <a:srgbClr val="6B6158"/>
                </a:solidFill>
                <a:latin typeface="Calibri"/>
              </a:rPr>
              <a:t>LoRA, r=16, α=32</a:t>
            </a:r>
          </a:p>
        </p:txBody>
      </p:sp>
      <p:sp>
        <p:nvSpPr>
          <p:cNvPr id="13" name="TextBox 12"/>
          <p:cNvSpPr txBox="1"/>
          <p:nvPr/>
        </p:nvSpPr>
        <p:spPr>
          <a:xfrm>
            <a:off x="822960" y="4370832"/>
            <a:ext cx="1554480" cy="274320"/>
          </a:xfrm>
          <a:prstGeom prst="rect">
            <a:avLst/>
          </a:prstGeom>
          <a:noFill/>
        </p:spPr>
        <p:txBody>
          <a:bodyPr wrap="square" lIns="45720" rIns="45720" tIns="27432" bIns="27432" anchor="t">
            <a:spAutoFit/>
          </a:bodyPr>
          <a:lstStyle/>
          <a:p>
            <a:pPr algn="l"/>
            <a:r>
              <a:rPr sz="1100" b="1" i="0">
                <a:solidFill>
                  <a:srgbClr val="1F1F1F"/>
                </a:solidFill>
                <a:latin typeface="Calibri"/>
              </a:rPr>
              <a:t>Examples</a:t>
            </a:r>
          </a:p>
        </p:txBody>
      </p:sp>
      <p:sp>
        <p:nvSpPr>
          <p:cNvPr id="14" name="TextBox 13"/>
          <p:cNvSpPr txBox="1"/>
          <p:nvPr/>
        </p:nvSpPr>
        <p:spPr>
          <a:xfrm>
            <a:off x="2377440" y="4370832"/>
            <a:ext cx="3291840" cy="274320"/>
          </a:xfrm>
          <a:prstGeom prst="rect">
            <a:avLst/>
          </a:prstGeom>
          <a:noFill/>
        </p:spPr>
        <p:txBody>
          <a:bodyPr wrap="square" lIns="45720" rIns="45720" tIns="27432" bIns="27432" anchor="t">
            <a:spAutoFit/>
          </a:bodyPr>
          <a:lstStyle/>
          <a:p>
            <a:pPr algn="l"/>
            <a:r>
              <a:rPr sz="1100" b="0" i="0">
                <a:solidFill>
                  <a:srgbClr val="6B6158"/>
                </a:solidFill>
                <a:latin typeface="Calibri"/>
              </a:rPr>
              <a:t>9,841 train  /  1,231 val  /  1,231 test</a:t>
            </a:r>
          </a:p>
        </p:txBody>
      </p:sp>
      <p:sp>
        <p:nvSpPr>
          <p:cNvPr id="15" name="TextBox 14"/>
          <p:cNvSpPr txBox="1"/>
          <p:nvPr/>
        </p:nvSpPr>
        <p:spPr>
          <a:xfrm>
            <a:off x="822960" y="4718304"/>
            <a:ext cx="1554480" cy="274320"/>
          </a:xfrm>
          <a:prstGeom prst="rect">
            <a:avLst/>
          </a:prstGeom>
          <a:noFill/>
        </p:spPr>
        <p:txBody>
          <a:bodyPr wrap="square" lIns="45720" rIns="45720" tIns="27432" bIns="27432" anchor="t">
            <a:spAutoFit/>
          </a:bodyPr>
          <a:lstStyle/>
          <a:p>
            <a:pPr algn="l"/>
            <a:r>
              <a:rPr sz="1100" b="1" i="0">
                <a:solidFill>
                  <a:srgbClr val="1F1F1F"/>
                </a:solidFill>
                <a:latin typeface="Calibri"/>
              </a:rPr>
              <a:t>Max length</a:t>
            </a:r>
          </a:p>
        </p:txBody>
      </p:sp>
      <p:sp>
        <p:nvSpPr>
          <p:cNvPr id="16" name="TextBox 15"/>
          <p:cNvSpPr txBox="1"/>
          <p:nvPr/>
        </p:nvSpPr>
        <p:spPr>
          <a:xfrm>
            <a:off x="2377440" y="4718304"/>
            <a:ext cx="3291840" cy="274320"/>
          </a:xfrm>
          <a:prstGeom prst="rect">
            <a:avLst/>
          </a:prstGeom>
          <a:noFill/>
        </p:spPr>
        <p:txBody>
          <a:bodyPr wrap="square" lIns="45720" rIns="45720" tIns="27432" bIns="27432" anchor="t">
            <a:spAutoFit/>
          </a:bodyPr>
          <a:lstStyle/>
          <a:p>
            <a:pPr algn="l"/>
            <a:r>
              <a:rPr sz="1100" b="0" i="0">
                <a:solidFill>
                  <a:srgbClr val="6B6158"/>
                </a:solidFill>
                <a:latin typeface="Calibri"/>
              </a:rPr>
              <a:t>8,192 tokens</a:t>
            </a:r>
          </a:p>
        </p:txBody>
      </p:sp>
      <p:sp>
        <p:nvSpPr>
          <p:cNvPr id="17" name="TextBox 16"/>
          <p:cNvSpPr txBox="1"/>
          <p:nvPr/>
        </p:nvSpPr>
        <p:spPr>
          <a:xfrm>
            <a:off x="822960" y="5065776"/>
            <a:ext cx="1554480" cy="274320"/>
          </a:xfrm>
          <a:prstGeom prst="rect">
            <a:avLst/>
          </a:prstGeom>
          <a:noFill/>
        </p:spPr>
        <p:txBody>
          <a:bodyPr wrap="square" lIns="45720" rIns="45720" tIns="27432" bIns="27432" anchor="t">
            <a:spAutoFit/>
          </a:bodyPr>
          <a:lstStyle/>
          <a:p>
            <a:pPr algn="l"/>
            <a:r>
              <a:rPr sz="1100" b="1" i="0">
                <a:solidFill>
                  <a:srgbClr val="1F1F1F"/>
                </a:solidFill>
                <a:latin typeface="Calibri"/>
              </a:rPr>
              <a:t>Learning rate</a:t>
            </a:r>
          </a:p>
        </p:txBody>
      </p:sp>
      <p:sp>
        <p:nvSpPr>
          <p:cNvPr id="18" name="TextBox 17"/>
          <p:cNvSpPr txBox="1"/>
          <p:nvPr/>
        </p:nvSpPr>
        <p:spPr>
          <a:xfrm>
            <a:off x="2377440" y="5065776"/>
            <a:ext cx="3291840" cy="274320"/>
          </a:xfrm>
          <a:prstGeom prst="rect">
            <a:avLst/>
          </a:prstGeom>
          <a:noFill/>
        </p:spPr>
        <p:txBody>
          <a:bodyPr wrap="square" lIns="45720" rIns="45720" tIns="27432" bIns="27432" anchor="t">
            <a:spAutoFit/>
          </a:bodyPr>
          <a:lstStyle/>
          <a:p>
            <a:pPr algn="l"/>
            <a:r>
              <a:rPr sz="1100" b="0" i="0">
                <a:solidFill>
                  <a:srgbClr val="6B6158"/>
                </a:solidFill>
                <a:latin typeface="Calibri"/>
              </a:rPr>
              <a:t>2e-5, 3 epochs, grad clip 1.0</a:t>
            </a:r>
          </a:p>
        </p:txBody>
      </p:sp>
      <p:sp>
        <p:nvSpPr>
          <p:cNvPr id="19" name="TextBox 18"/>
          <p:cNvSpPr txBox="1"/>
          <p:nvPr/>
        </p:nvSpPr>
        <p:spPr>
          <a:xfrm>
            <a:off x="822960" y="5413248"/>
            <a:ext cx="1554480" cy="274320"/>
          </a:xfrm>
          <a:prstGeom prst="rect">
            <a:avLst/>
          </a:prstGeom>
          <a:noFill/>
        </p:spPr>
        <p:txBody>
          <a:bodyPr wrap="square" lIns="45720" rIns="45720" tIns="27432" bIns="27432" anchor="t">
            <a:spAutoFit/>
          </a:bodyPr>
          <a:lstStyle/>
          <a:p>
            <a:pPr algn="l"/>
            <a:r>
              <a:rPr sz="1100" b="1" i="0">
                <a:solidFill>
                  <a:srgbClr val="1F1F1F"/>
                </a:solidFill>
                <a:latin typeface="Calibri"/>
              </a:rPr>
              <a:t>Hardware</a:t>
            </a:r>
          </a:p>
        </p:txBody>
      </p:sp>
      <p:sp>
        <p:nvSpPr>
          <p:cNvPr id="20" name="TextBox 19"/>
          <p:cNvSpPr txBox="1"/>
          <p:nvPr/>
        </p:nvSpPr>
        <p:spPr>
          <a:xfrm>
            <a:off x="2377440" y="5413248"/>
            <a:ext cx="3291840" cy="274320"/>
          </a:xfrm>
          <a:prstGeom prst="rect">
            <a:avLst/>
          </a:prstGeom>
          <a:noFill/>
        </p:spPr>
        <p:txBody>
          <a:bodyPr wrap="square" lIns="45720" rIns="45720" tIns="27432" bIns="27432" anchor="t">
            <a:spAutoFit/>
          </a:bodyPr>
          <a:lstStyle/>
          <a:p>
            <a:pPr algn="l"/>
            <a:r>
              <a:rPr sz="1100" b="0" i="0">
                <a:solidFill>
                  <a:srgbClr val="6B6158"/>
                </a:solidFill>
                <a:latin typeface="Calibri"/>
              </a:rPr>
              <a:t>MSU ICER HPCC, 1× A100</a:t>
            </a:r>
          </a:p>
        </p:txBody>
      </p:sp>
      <p:sp>
        <p:nvSpPr>
          <p:cNvPr id="21" name="TextBox 20"/>
          <p:cNvSpPr txBox="1"/>
          <p:nvPr/>
        </p:nvSpPr>
        <p:spPr>
          <a:xfrm>
            <a:off x="6400800" y="1783080"/>
            <a:ext cx="5303520" cy="365760"/>
          </a:xfrm>
          <a:prstGeom prst="rect">
            <a:avLst/>
          </a:prstGeom>
          <a:noFill/>
        </p:spPr>
        <p:txBody>
          <a:bodyPr wrap="square" lIns="45720" rIns="45720" tIns="27432" bIns="27432" anchor="t">
            <a:spAutoFit/>
          </a:bodyPr>
          <a:lstStyle/>
          <a:p>
            <a:pPr algn="l"/>
            <a:r>
              <a:rPr sz="1100" b="1" i="0">
                <a:solidFill>
                  <a:srgbClr val="B5443D"/>
                </a:solidFill>
                <a:latin typeface="Calibri"/>
              </a:rPr>
              <a:t>WHY LORA, WHY NOT GPT-4</a:t>
            </a:r>
          </a:p>
        </p:txBody>
      </p:sp>
      <p:sp>
        <p:nvSpPr>
          <p:cNvPr id="22" name="Rectangle 21"/>
          <p:cNvSpPr/>
          <p:nvPr/>
        </p:nvSpPr>
        <p:spPr>
          <a:xfrm>
            <a:off x="6400800" y="2286000"/>
            <a:ext cx="109728" cy="118872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2240280"/>
            <a:ext cx="5029200" cy="365760"/>
          </a:xfrm>
          <a:prstGeom prst="rect">
            <a:avLst/>
          </a:prstGeom>
          <a:noFill/>
        </p:spPr>
        <p:txBody>
          <a:bodyPr wrap="square" lIns="45720" rIns="45720" tIns="27432" bIns="27432" anchor="t">
            <a:spAutoFit/>
          </a:bodyPr>
          <a:lstStyle/>
          <a:p>
            <a:pPr algn="l"/>
            <a:r>
              <a:rPr sz="1600" b="1" i="0">
                <a:solidFill>
                  <a:srgbClr val="8B2E2A"/>
                </a:solidFill>
                <a:latin typeface="Georgia"/>
              </a:rPr>
              <a:t>Deployability</a:t>
            </a:r>
          </a:p>
        </p:txBody>
      </p:sp>
      <p:sp>
        <p:nvSpPr>
          <p:cNvPr id="24" name="TextBox 23"/>
          <p:cNvSpPr txBox="1"/>
          <p:nvPr/>
        </p:nvSpPr>
        <p:spPr>
          <a:xfrm>
            <a:off x="6675120" y="2624328"/>
            <a:ext cx="5029200" cy="914400"/>
          </a:xfrm>
          <a:prstGeom prst="rect">
            <a:avLst/>
          </a:prstGeom>
          <a:noFill/>
        </p:spPr>
        <p:txBody>
          <a:bodyPr wrap="square" lIns="45720" rIns="45720" tIns="27432" bIns="27432" anchor="t">
            <a:spAutoFit/>
          </a:bodyPr>
          <a:lstStyle/>
          <a:p>
            <a:pPr algn="l"/>
            <a:r>
              <a:rPr sz="1200" b="0" i="0">
                <a:solidFill>
                  <a:srgbClr val="1F1F1F"/>
                </a:solidFill>
                <a:latin typeface="Calibri"/>
              </a:rPr>
              <a:t>The Clearinghouse needs to run this on their own servers — not send case data to a third-party API.</a:t>
            </a:r>
          </a:p>
        </p:txBody>
      </p:sp>
      <p:sp>
        <p:nvSpPr>
          <p:cNvPr id="25" name="Rectangle 24"/>
          <p:cNvSpPr/>
          <p:nvPr/>
        </p:nvSpPr>
        <p:spPr>
          <a:xfrm>
            <a:off x="6400800" y="3657600"/>
            <a:ext cx="109728" cy="118872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3611880"/>
            <a:ext cx="5029200" cy="365760"/>
          </a:xfrm>
          <a:prstGeom prst="rect">
            <a:avLst/>
          </a:prstGeom>
          <a:noFill/>
        </p:spPr>
        <p:txBody>
          <a:bodyPr wrap="square" lIns="45720" rIns="45720" tIns="27432" bIns="27432" anchor="t">
            <a:spAutoFit/>
          </a:bodyPr>
          <a:lstStyle/>
          <a:p>
            <a:pPr algn="l"/>
            <a:r>
              <a:rPr sz="1600" b="1" i="0">
                <a:solidFill>
                  <a:srgbClr val="8B2E2A"/>
                </a:solidFill>
                <a:latin typeface="Georgia"/>
              </a:rPr>
              <a:t>Efficiency</a:t>
            </a:r>
          </a:p>
        </p:txBody>
      </p:sp>
      <p:sp>
        <p:nvSpPr>
          <p:cNvPr id="27" name="TextBox 26"/>
          <p:cNvSpPr txBox="1"/>
          <p:nvPr/>
        </p:nvSpPr>
        <p:spPr>
          <a:xfrm>
            <a:off x="6675120" y="3995928"/>
            <a:ext cx="5029200" cy="914400"/>
          </a:xfrm>
          <a:prstGeom prst="rect">
            <a:avLst/>
          </a:prstGeom>
          <a:noFill/>
        </p:spPr>
        <p:txBody>
          <a:bodyPr wrap="square" lIns="45720" rIns="45720" tIns="27432" bIns="27432" anchor="t">
            <a:spAutoFit/>
          </a:bodyPr>
          <a:lstStyle/>
          <a:p>
            <a:pPr algn="l"/>
            <a:r>
              <a:rPr sz="1200" b="0" i="0">
                <a:solidFill>
                  <a:srgbClr val="1F1F1F"/>
                </a:solidFill>
                <a:latin typeface="Calibri"/>
              </a:rPr>
              <a:t>LoRA adapters add ~0.3% of the parameters. We train in hours, not days, on a single A100.</a:t>
            </a:r>
          </a:p>
        </p:txBody>
      </p:sp>
      <p:sp>
        <p:nvSpPr>
          <p:cNvPr id="28" name="Rectangle 27"/>
          <p:cNvSpPr/>
          <p:nvPr/>
        </p:nvSpPr>
        <p:spPr>
          <a:xfrm>
            <a:off x="6400800" y="5029200"/>
            <a:ext cx="109728" cy="118872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4983480"/>
            <a:ext cx="5029200" cy="365760"/>
          </a:xfrm>
          <a:prstGeom prst="rect">
            <a:avLst/>
          </a:prstGeom>
          <a:noFill/>
        </p:spPr>
        <p:txBody>
          <a:bodyPr wrap="square" lIns="45720" rIns="45720" tIns="27432" bIns="27432" anchor="t">
            <a:spAutoFit/>
          </a:bodyPr>
          <a:lstStyle/>
          <a:p>
            <a:pPr algn="l"/>
            <a:r>
              <a:rPr sz="1600" b="1" i="0">
                <a:solidFill>
                  <a:srgbClr val="8B2E2A"/>
                </a:solidFill>
                <a:latin typeface="Georgia"/>
              </a:rPr>
              <a:t>Reversibility</a:t>
            </a:r>
          </a:p>
        </p:txBody>
      </p:sp>
      <p:sp>
        <p:nvSpPr>
          <p:cNvPr id="30" name="TextBox 29"/>
          <p:cNvSpPr txBox="1"/>
          <p:nvPr/>
        </p:nvSpPr>
        <p:spPr>
          <a:xfrm>
            <a:off x="6675120" y="5367528"/>
            <a:ext cx="5029200" cy="914400"/>
          </a:xfrm>
          <a:prstGeom prst="rect">
            <a:avLst/>
          </a:prstGeom>
          <a:noFill/>
        </p:spPr>
        <p:txBody>
          <a:bodyPr wrap="square" lIns="45720" rIns="45720" tIns="27432" bIns="27432" anchor="t">
            <a:spAutoFit/>
          </a:bodyPr>
          <a:lstStyle/>
          <a:p>
            <a:pPr algn="l"/>
            <a:r>
              <a:rPr sz="1200" b="0" i="0">
                <a:solidFill>
                  <a:srgbClr val="1F1F1F"/>
                </a:solidFill>
                <a:latin typeface="Calibri"/>
              </a:rPr>
              <a:t>If the model ever needs to be retrained or rolled back, adapters swap cleanly without touching the base model.</a:t>
            </a:r>
          </a:p>
        </p:txBody>
      </p:sp>
      <p:sp>
        <p:nvSpPr>
          <p:cNvPr id="31" name="Rectangle 30"/>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33" name="TextBox 32"/>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4000" b="1" i="0">
                <a:solidFill>
                  <a:srgbClr val="8B2E2A"/>
                </a:solidFill>
                <a:latin typeface="Georgia"/>
              </a:rPr>
              <a:t>RESULTS</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2287" y="1783080"/>
            <a:ext cx="3657600" cy="347472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2287" y="2011680"/>
            <a:ext cx="3657600" cy="365760"/>
          </a:xfrm>
          <a:prstGeom prst="rect">
            <a:avLst/>
          </a:prstGeom>
          <a:noFill/>
        </p:spPr>
        <p:txBody>
          <a:bodyPr wrap="square" lIns="45720" rIns="45720" tIns="27432" bIns="27432" anchor="t">
            <a:spAutoFit/>
          </a:bodyPr>
          <a:lstStyle/>
          <a:p>
            <a:pPr algn="ctr"/>
            <a:r>
              <a:rPr sz="1100" b="1" i="0">
                <a:solidFill>
                  <a:srgbClr val="B5443D"/>
                </a:solidFill>
                <a:latin typeface="Calibri"/>
              </a:rPr>
              <a:t>ROUGE-L</a:t>
            </a:r>
          </a:p>
        </p:txBody>
      </p:sp>
      <p:sp>
        <p:nvSpPr>
          <p:cNvPr id="7" name="TextBox 6"/>
          <p:cNvSpPr txBox="1"/>
          <p:nvPr/>
        </p:nvSpPr>
        <p:spPr>
          <a:xfrm>
            <a:off x="472287" y="2377440"/>
            <a:ext cx="3657600" cy="1188720"/>
          </a:xfrm>
          <a:prstGeom prst="rect">
            <a:avLst/>
          </a:prstGeom>
          <a:noFill/>
        </p:spPr>
        <p:txBody>
          <a:bodyPr wrap="square" lIns="45720" rIns="45720" tIns="27432" bIns="27432" anchor="t">
            <a:spAutoFit/>
          </a:bodyPr>
          <a:lstStyle/>
          <a:p>
            <a:pPr algn="ctr"/>
            <a:r>
              <a:rPr sz="7200" b="1" i="0">
                <a:solidFill>
                  <a:srgbClr val="8B2E2A"/>
                </a:solidFill>
                <a:latin typeface="Georgia"/>
              </a:rPr>
              <a:t>0.41</a:t>
            </a:r>
          </a:p>
        </p:txBody>
      </p:sp>
      <p:sp>
        <p:nvSpPr>
          <p:cNvPr id="8" name="Rectangle 7"/>
          <p:cNvSpPr/>
          <p:nvPr/>
        </p:nvSpPr>
        <p:spPr>
          <a:xfrm>
            <a:off x="1615287" y="3566160"/>
            <a:ext cx="137160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887" y="3749040"/>
            <a:ext cx="3200400" cy="731520"/>
          </a:xfrm>
          <a:prstGeom prst="rect">
            <a:avLst/>
          </a:prstGeom>
          <a:noFill/>
        </p:spPr>
        <p:txBody>
          <a:bodyPr wrap="square" lIns="45720" rIns="45720" tIns="27432" bIns="27432" anchor="t">
            <a:spAutoFit/>
          </a:bodyPr>
          <a:lstStyle/>
          <a:p>
            <a:pPr algn="ctr"/>
            <a:r>
              <a:rPr sz="1100" b="0" i="0">
                <a:solidFill>
                  <a:srgbClr val="1F1F1F"/>
                </a:solidFill>
                <a:latin typeface="Calibri"/>
              </a:rPr>
              <a:t>Lexical overlap with staff-written reference summaries.</a:t>
            </a:r>
          </a:p>
        </p:txBody>
      </p:sp>
      <p:sp>
        <p:nvSpPr>
          <p:cNvPr id="10" name="TextBox 9"/>
          <p:cNvSpPr txBox="1"/>
          <p:nvPr/>
        </p:nvSpPr>
        <p:spPr>
          <a:xfrm>
            <a:off x="700887" y="4572000"/>
            <a:ext cx="3200400" cy="457200"/>
          </a:xfrm>
          <a:prstGeom prst="rect">
            <a:avLst/>
          </a:prstGeom>
          <a:noFill/>
        </p:spPr>
        <p:txBody>
          <a:bodyPr wrap="square" lIns="45720" rIns="45720" tIns="27432" bIns="27432" anchor="t">
            <a:spAutoFit/>
          </a:bodyPr>
          <a:lstStyle/>
          <a:p>
            <a:pPr algn="ctr"/>
            <a:r>
              <a:rPr sz="1100" b="1" i="1">
                <a:solidFill>
                  <a:srgbClr val="8B2E2A"/>
                </a:solidFill>
                <a:latin typeface="Georgia"/>
              </a:rPr>
              <a:t>+14 pts over the untuned base model.</a:t>
            </a:r>
          </a:p>
        </p:txBody>
      </p:sp>
      <p:sp>
        <p:nvSpPr>
          <p:cNvPr id="11" name="Rounded Rectangle 10"/>
          <p:cNvSpPr/>
          <p:nvPr/>
        </p:nvSpPr>
        <p:spPr>
          <a:xfrm>
            <a:off x="4267047" y="1783080"/>
            <a:ext cx="3657600" cy="347472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67047" y="2011680"/>
            <a:ext cx="3657600" cy="365760"/>
          </a:xfrm>
          <a:prstGeom prst="rect">
            <a:avLst/>
          </a:prstGeom>
          <a:noFill/>
        </p:spPr>
        <p:txBody>
          <a:bodyPr wrap="square" lIns="45720" rIns="45720" tIns="27432" bIns="27432" anchor="t">
            <a:spAutoFit/>
          </a:bodyPr>
          <a:lstStyle/>
          <a:p>
            <a:pPr algn="ctr"/>
            <a:r>
              <a:rPr sz="1100" b="1" i="0">
                <a:solidFill>
                  <a:srgbClr val="B5443D"/>
                </a:solidFill>
                <a:latin typeface="Calibri"/>
              </a:rPr>
              <a:t>BERTSCORE</a:t>
            </a:r>
          </a:p>
        </p:txBody>
      </p:sp>
      <p:sp>
        <p:nvSpPr>
          <p:cNvPr id="13" name="TextBox 12"/>
          <p:cNvSpPr txBox="1"/>
          <p:nvPr/>
        </p:nvSpPr>
        <p:spPr>
          <a:xfrm>
            <a:off x="4267047" y="2377440"/>
            <a:ext cx="3657600" cy="1188720"/>
          </a:xfrm>
          <a:prstGeom prst="rect">
            <a:avLst/>
          </a:prstGeom>
          <a:noFill/>
        </p:spPr>
        <p:txBody>
          <a:bodyPr wrap="square" lIns="45720" rIns="45720" tIns="27432" bIns="27432" anchor="t">
            <a:spAutoFit/>
          </a:bodyPr>
          <a:lstStyle/>
          <a:p>
            <a:pPr algn="ctr"/>
            <a:r>
              <a:rPr sz="7200" b="1" i="0">
                <a:solidFill>
                  <a:srgbClr val="8B2E2A"/>
                </a:solidFill>
                <a:latin typeface="Georgia"/>
              </a:rPr>
              <a:t>0.87</a:t>
            </a:r>
          </a:p>
        </p:txBody>
      </p:sp>
      <p:sp>
        <p:nvSpPr>
          <p:cNvPr id="14" name="Rectangle 13"/>
          <p:cNvSpPr/>
          <p:nvPr/>
        </p:nvSpPr>
        <p:spPr>
          <a:xfrm>
            <a:off x="5410047" y="3566160"/>
            <a:ext cx="137160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647" y="3749040"/>
            <a:ext cx="3200400" cy="731520"/>
          </a:xfrm>
          <a:prstGeom prst="rect">
            <a:avLst/>
          </a:prstGeom>
          <a:noFill/>
        </p:spPr>
        <p:txBody>
          <a:bodyPr wrap="square" lIns="45720" rIns="45720" tIns="27432" bIns="27432" anchor="t">
            <a:spAutoFit/>
          </a:bodyPr>
          <a:lstStyle/>
          <a:p>
            <a:pPr algn="ctr"/>
            <a:r>
              <a:rPr sz="1100" b="0" i="0">
                <a:solidFill>
                  <a:srgbClr val="1F1F1F"/>
                </a:solidFill>
                <a:latin typeface="Calibri"/>
              </a:rPr>
              <a:t>Semantic similarity using contextual embeddings.</a:t>
            </a:r>
          </a:p>
        </p:txBody>
      </p:sp>
      <p:sp>
        <p:nvSpPr>
          <p:cNvPr id="16" name="TextBox 15"/>
          <p:cNvSpPr txBox="1"/>
          <p:nvPr/>
        </p:nvSpPr>
        <p:spPr>
          <a:xfrm>
            <a:off x="4495647" y="4572000"/>
            <a:ext cx="3200400" cy="457200"/>
          </a:xfrm>
          <a:prstGeom prst="rect">
            <a:avLst/>
          </a:prstGeom>
          <a:noFill/>
        </p:spPr>
        <p:txBody>
          <a:bodyPr wrap="square" lIns="45720" rIns="45720" tIns="27432" bIns="27432" anchor="t">
            <a:spAutoFit/>
          </a:bodyPr>
          <a:lstStyle/>
          <a:p>
            <a:pPr algn="ctr"/>
            <a:r>
              <a:rPr sz="1100" b="1" i="1">
                <a:solidFill>
                  <a:srgbClr val="8B2E2A"/>
                </a:solidFill>
                <a:latin typeface="Georgia"/>
              </a:rPr>
              <a:t>Within 3 pts of human inter-rater agreement.</a:t>
            </a:r>
          </a:p>
        </p:txBody>
      </p:sp>
      <p:sp>
        <p:nvSpPr>
          <p:cNvPr id="17" name="Rounded Rectangle 16"/>
          <p:cNvSpPr/>
          <p:nvPr/>
        </p:nvSpPr>
        <p:spPr>
          <a:xfrm>
            <a:off x="8061807" y="1783080"/>
            <a:ext cx="3657600" cy="347472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1807" y="2011680"/>
            <a:ext cx="3657600" cy="365760"/>
          </a:xfrm>
          <a:prstGeom prst="rect">
            <a:avLst/>
          </a:prstGeom>
          <a:noFill/>
        </p:spPr>
        <p:txBody>
          <a:bodyPr wrap="square" lIns="45720" rIns="45720" tIns="27432" bIns="27432" anchor="t">
            <a:spAutoFit/>
          </a:bodyPr>
          <a:lstStyle/>
          <a:p>
            <a:pPr algn="ctr"/>
            <a:r>
              <a:rPr sz="1100" b="1" i="0">
                <a:solidFill>
                  <a:srgbClr val="B5443D"/>
                </a:solidFill>
                <a:latin typeface="Calibri"/>
              </a:rPr>
              <a:t>LLM-AS-JUDGE</a:t>
            </a:r>
          </a:p>
        </p:txBody>
      </p:sp>
      <p:sp>
        <p:nvSpPr>
          <p:cNvPr id="19" name="TextBox 18"/>
          <p:cNvSpPr txBox="1"/>
          <p:nvPr/>
        </p:nvSpPr>
        <p:spPr>
          <a:xfrm>
            <a:off x="8061807" y="2377440"/>
            <a:ext cx="3657600" cy="1188720"/>
          </a:xfrm>
          <a:prstGeom prst="rect">
            <a:avLst/>
          </a:prstGeom>
          <a:noFill/>
        </p:spPr>
        <p:txBody>
          <a:bodyPr wrap="square" lIns="45720" rIns="45720" tIns="27432" bIns="27432" anchor="t">
            <a:spAutoFit/>
          </a:bodyPr>
          <a:lstStyle/>
          <a:p>
            <a:pPr algn="ctr"/>
            <a:r>
              <a:rPr sz="7200" b="1" i="0">
                <a:solidFill>
                  <a:srgbClr val="8B2E2A"/>
                </a:solidFill>
                <a:latin typeface="Georgia"/>
              </a:rPr>
              <a:t>4.1 / 5</a:t>
            </a:r>
          </a:p>
        </p:txBody>
      </p:sp>
      <p:sp>
        <p:nvSpPr>
          <p:cNvPr id="20" name="Rectangle 19"/>
          <p:cNvSpPr/>
          <p:nvPr/>
        </p:nvSpPr>
        <p:spPr>
          <a:xfrm>
            <a:off x="9204807" y="3566160"/>
            <a:ext cx="137160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0407" y="3749040"/>
            <a:ext cx="3200400" cy="731520"/>
          </a:xfrm>
          <a:prstGeom prst="rect">
            <a:avLst/>
          </a:prstGeom>
          <a:noFill/>
        </p:spPr>
        <p:txBody>
          <a:bodyPr wrap="square" lIns="45720" rIns="45720" tIns="27432" bIns="27432" anchor="t">
            <a:spAutoFit/>
          </a:bodyPr>
          <a:lstStyle/>
          <a:p>
            <a:pPr algn="ctr"/>
            <a:r>
              <a:rPr sz="1100" b="0" i="0">
                <a:solidFill>
                  <a:srgbClr val="1F1F1F"/>
                </a:solidFill>
                <a:latin typeface="Calibri"/>
              </a:rPr>
              <a:t>Claude scoring legal reasoning and factual accuracy.</a:t>
            </a:r>
          </a:p>
        </p:txBody>
      </p:sp>
      <p:sp>
        <p:nvSpPr>
          <p:cNvPr id="22" name="TextBox 21"/>
          <p:cNvSpPr txBox="1"/>
          <p:nvPr/>
        </p:nvSpPr>
        <p:spPr>
          <a:xfrm>
            <a:off x="8290407" y="4572000"/>
            <a:ext cx="3200400" cy="457200"/>
          </a:xfrm>
          <a:prstGeom prst="rect">
            <a:avLst/>
          </a:prstGeom>
          <a:noFill/>
        </p:spPr>
        <p:txBody>
          <a:bodyPr wrap="square" lIns="45720" rIns="45720" tIns="27432" bIns="27432" anchor="t">
            <a:spAutoFit/>
          </a:bodyPr>
          <a:lstStyle/>
          <a:p>
            <a:pPr algn="ctr"/>
            <a:r>
              <a:rPr sz="1100" b="1" i="1">
                <a:solidFill>
                  <a:srgbClr val="8B2E2A"/>
                </a:solidFill>
                <a:latin typeface="Georgia"/>
              </a:rPr>
              <a:t>Highest gain on factual accuracy (+1.2 pts).</a:t>
            </a:r>
          </a:p>
        </p:txBody>
      </p:sp>
      <p:sp>
        <p:nvSpPr>
          <p:cNvPr id="23" name="Rounded Rectangle 22"/>
          <p:cNvSpPr/>
          <p:nvPr/>
        </p:nvSpPr>
        <p:spPr>
          <a:xfrm>
            <a:off x="914400" y="5486400"/>
            <a:ext cx="10332720" cy="868680"/>
          </a:xfrm>
          <a:prstGeom prst="roundRect">
            <a:avLst>
              <a:gd name="adj" fmla="val 8000"/>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77840"/>
            <a:ext cx="10332720" cy="411480"/>
          </a:xfrm>
          <a:prstGeom prst="rect">
            <a:avLst/>
          </a:prstGeom>
          <a:noFill/>
        </p:spPr>
        <p:txBody>
          <a:bodyPr wrap="square" lIns="45720" rIns="45720" tIns="27432" bIns="27432" anchor="t">
            <a:spAutoFit/>
          </a:bodyPr>
          <a:lstStyle/>
          <a:p>
            <a:pPr algn="ctr"/>
            <a:r>
              <a:rPr sz="1000" b="1" i="0">
                <a:solidFill>
                  <a:srgbClr val="B5443D"/>
                </a:solidFill>
                <a:latin typeface="Calibri"/>
              </a:rPr>
              <a:t>THE ONE RESULT WE CARE ABOUT MOST</a:t>
            </a:r>
          </a:p>
        </p:txBody>
      </p:sp>
      <p:sp>
        <p:nvSpPr>
          <p:cNvPr id="25" name="TextBox 24"/>
          <p:cNvSpPr txBox="1"/>
          <p:nvPr/>
        </p:nvSpPr>
        <p:spPr>
          <a:xfrm>
            <a:off x="914400" y="5806440"/>
            <a:ext cx="10332720" cy="502920"/>
          </a:xfrm>
          <a:prstGeom prst="rect">
            <a:avLst/>
          </a:prstGeom>
          <a:noFill/>
        </p:spPr>
        <p:txBody>
          <a:bodyPr wrap="square" lIns="45720" rIns="45720" tIns="27432" bIns="27432" anchor="t">
            <a:spAutoFit/>
          </a:bodyPr>
          <a:lstStyle/>
          <a:p>
            <a:pPr algn="ctr"/>
            <a:r>
              <a:rPr sz="1300" b="1" i="1">
                <a:solidFill>
                  <a:srgbClr val="FAF7EF"/>
                </a:solidFill>
                <a:latin typeface="Georgia"/>
              </a:rPr>
              <a:t>Factual accuracy, judged by an independent LLM, improved by 1.2 points — the dimension legal reviewers care about most.</a:t>
            </a:r>
          </a:p>
        </p:txBody>
      </p:sp>
      <p:sp>
        <p:nvSpPr>
          <p:cNvPr id="26" name="Rectangle 25"/>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28" name="TextBox 27"/>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4000" b="1" i="0">
                <a:solidFill>
                  <a:srgbClr val="8B2E2A"/>
                </a:solidFill>
                <a:latin typeface="Georgia"/>
              </a:rPr>
              <a:t>WHAT THE CLEARINGHOUSE GETS</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737360"/>
            <a:ext cx="5486400" cy="1874519"/>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37360"/>
            <a:ext cx="109728" cy="1874519"/>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029200" cy="457200"/>
          </a:xfrm>
          <a:prstGeom prst="rect">
            <a:avLst/>
          </a:prstGeom>
          <a:noFill/>
        </p:spPr>
        <p:txBody>
          <a:bodyPr wrap="square" lIns="45720" rIns="45720" tIns="27432" bIns="27432" anchor="t">
            <a:spAutoFit/>
          </a:bodyPr>
          <a:lstStyle/>
          <a:p>
            <a:pPr algn="l"/>
            <a:r>
              <a:rPr sz="1800" b="1" i="0">
                <a:solidFill>
                  <a:srgbClr val="8B2E2A"/>
                </a:solidFill>
                <a:latin typeface="Georgia"/>
              </a:rPr>
              <a:t>Reproducible pipeline</a:t>
            </a:r>
          </a:p>
        </p:txBody>
      </p:sp>
      <p:sp>
        <p:nvSpPr>
          <p:cNvPr id="8" name="TextBox 7"/>
          <p:cNvSpPr txBox="1"/>
          <p:nvPr/>
        </p:nvSpPr>
        <p:spPr>
          <a:xfrm>
            <a:off x="868680" y="2423160"/>
            <a:ext cx="5029200" cy="1097280"/>
          </a:xfrm>
          <a:prstGeom prst="rect">
            <a:avLst/>
          </a:prstGeom>
          <a:noFill/>
        </p:spPr>
        <p:txBody>
          <a:bodyPr wrap="square" lIns="45720" rIns="45720" tIns="27432" bIns="27432" anchor="t">
            <a:spAutoFit/>
          </a:bodyPr>
          <a:lstStyle/>
          <a:p>
            <a:pPr algn="l"/>
            <a:r>
              <a:rPr sz="1200" b="0" i="0">
                <a:solidFill>
                  <a:srgbClr val="1F1F1F"/>
                </a:solidFill>
                <a:latin typeface="Calibri"/>
              </a:rPr>
              <a:t>Every stage — ingest, prepare, fine-tune, evaluate — is a single command. No hidden steps, no untracked state.</a:t>
            </a:r>
          </a:p>
        </p:txBody>
      </p:sp>
      <p:sp>
        <p:nvSpPr>
          <p:cNvPr id="9" name="Rounded Rectangle 8"/>
          <p:cNvSpPr/>
          <p:nvPr/>
        </p:nvSpPr>
        <p:spPr>
          <a:xfrm>
            <a:off x="6263640" y="1737360"/>
            <a:ext cx="5486400" cy="1874519"/>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737360"/>
            <a:ext cx="109728" cy="1874519"/>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920240"/>
            <a:ext cx="5029200" cy="457200"/>
          </a:xfrm>
          <a:prstGeom prst="rect">
            <a:avLst/>
          </a:prstGeom>
          <a:noFill/>
        </p:spPr>
        <p:txBody>
          <a:bodyPr wrap="square" lIns="45720" rIns="45720" tIns="27432" bIns="27432" anchor="t">
            <a:spAutoFit/>
          </a:bodyPr>
          <a:lstStyle/>
          <a:p>
            <a:pPr algn="l"/>
            <a:r>
              <a:rPr sz="1800" b="1" i="0">
                <a:solidFill>
                  <a:srgbClr val="8B2E2A"/>
                </a:solidFill>
                <a:latin typeface="Georgia"/>
              </a:rPr>
              <a:t>Fine-tuned adapter</a:t>
            </a:r>
          </a:p>
        </p:txBody>
      </p:sp>
      <p:sp>
        <p:nvSpPr>
          <p:cNvPr id="12" name="TextBox 11"/>
          <p:cNvSpPr txBox="1"/>
          <p:nvPr/>
        </p:nvSpPr>
        <p:spPr>
          <a:xfrm>
            <a:off x="6583680" y="2423160"/>
            <a:ext cx="5029200" cy="1097280"/>
          </a:xfrm>
          <a:prstGeom prst="rect">
            <a:avLst/>
          </a:prstGeom>
          <a:noFill/>
        </p:spPr>
        <p:txBody>
          <a:bodyPr wrap="square" lIns="45720" rIns="45720" tIns="27432" bIns="27432" anchor="t">
            <a:spAutoFit/>
          </a:bodyPr>
          <a:lstStyle/>
          <a:p>
            <a:pPr algn="l"/>
            <a:r>
              <a:rPr sz="1200" b="0" i="0">
                <a:solidFill>
                  <a:srgbClr val="1F1F1F"/>
                </a:solidFill>
                <a:latin typeface="Calibri"/>
              </a:rPr>
              <a:t>A LoRA checkpoint the Clearinghouse can load onto Qwen2.5-7B today, run on a single GPU, and redeploy on their own servers.</a:t>
            </a:r>
          </a:p>
        </p:txBody>
      </p:sp>
      <p:sp>
        <p:nvSpPr>
          <p:cNvPr id="13" name="Rounded Rectangle 12"/>
          <p:cNvSpPr/>
          <p:nvPr/>
        </p:nvSpPr>
        <p:spPr>
          <a:xfrm>
            <a:off x="548640" y="3794759"/>
            <a:ext cx="5486400" cy="1874519"/>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794759"/>
            <a:ext cx="109728" cy="1874519"/>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77639"/>
            <a:ext cx="5029200" cy="457200"/>
          </a:xfrm>
          <a:prstGeom prst="rect">
            <a:avLst/>
          </a:prstGeom>
          <a:noFill/>
        </p:spPr>
        <p:txBody>
          <a:bodyPr wrap="square" lIns="45720" rIns="45720" tIns="27432" bIns="27432" anchor="t">
            <a:spAutoFit/>
          </a:bodyPr>
          <a:lstStyle/>
          <a:p>
            <a:pPr algn="l"/>
            <a:r>
              <a:rPr sz="1800" b="1" i="0">
                <a:solidFill>
                  <a:srgbClr val="8B2E2A"/>
                </a:solidFill>
                <a:latin typeface="Georgia"/>
              </a:rPr>
              <a:t>Evaluation harness</a:t>
            </a:r>
          </a:p>
        </p:txBody>
      </p:sp>
      <p:sp>
        <p:nvSpPr>
          <p:cNvPr id="16" name="TextBox 15"/>
          <p:cNvSpPr txBox="1"/>
          <p:nvPr/>
        </p:nvSpPr>
        <p:spPr>
          <a:xfrm>
            <a:off x="868680" y="4480559"/>
            <a:ext cx="5029200" cy="1097280"/>
          </a:xfrm>
          <a:prstGeom prst="rect">
            <a:avLst/>
          </a:prstGeom>
          <a:noFill/>
        </p:spPr>
        <p:txBody>
          <a:bodyPr wrap="square" lIns="45720" rIns="45720" tIns="27432" bIns="27432" anchor="t">
            <a:spAutoFit/>
          </a:bodyPr>
          <a:lstStyle/>
          <a:p>
            <a:pPr algn="l"/>
            <a:r>
              <a:rPr sz="1200" b="0" i="0">
                <a:solidFill>
                  <a:srgbClr val="1F1F1F"/>
                </a:solidFill>
                <a:latin typeface="Calibri"/>
              </a:rPr>
              <a:t>A scoring pipeline they can re-run on any future version — so they'll know immediately if a change makes the model worse.</a:t>
            </a:r>
          </a:p>
        </p:txBody>
      </p:sp>
      <p:sp>
        <p:nvSpPr>
          <p:cNvPr id="17" name="Rounded Rectangle 16"/>
          <p:cNvSpPr/>
          <p:nvPr/>
        </p:nvSpPr>
        <p:spPr>
          <a:xfrm>
            <a:off x="6263640" y="3794759"/>
            <a:ext cx="5486400" cy="1874519"/>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794759"/>
            <a:ext cx="109728" cy="1874519"/>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977639"/>
            <a:ext cx="5029200" cy="457200"/>
          </a:xfrm>
          <a:prstGeom prst="rect">
            <a:avLst/>
          </a:prstGeom>
          <a:noFill/>
        </p:spPr>
        <p:txBody>
          <a:bodyPr wrap="square" lIns="45720" rIns="45720" tIns="27432" bIns="27432" anchor="t">
            <a:spAutoFit/>
          </a:bodyPr>
          <a:lstStyle/>
          <a:p>
            <a:pPr algn="l"/>
            <a:r>
              <a:rPr sz="1800" b="1" i="0">
                <a:solidFill>
                  <a:srgbClr val="8B2E2A"/>
                </a:solidFill>
                <a:latin typeface="Georgia"/>
              </a:rPr>
              <a:t>Full documentation</a:t>
            </a:r>
          </a:p>
        </p:txBody>
      </p:sp>
      <p:sp>
        <p:nvSpPr>
          <p:cNvPr id="20" name="TextBox 19"/>
          <p:cNvSpPr txBox="1"/>
          <p:nvPr/>
        </p:nvSpPr>
        <p:spPr>
          <a:xfrm>
            <a:off x="6583680" y="4480559"/>
            <a:ext cx="5029200" cy="1097280"/>
          </a:xfrm>
          <a:prstGeom prst="rect">
            <a:avLst/>
          </a:prstGeom>
          <a:noFill/>
        </p:spPr>
        <p:txBody>
          <a:bodyPr wrap="square" lIns="45720" rIns="45720" tIns="27432" bIns="27432" anchor="t">
            <a:spAutoFit/>
          </a:bodyPr>
          <a:lstStyle/>
          <a:p>
            <a:pPr algn="l"/>
            <a:r>
              <a:rPr sz="1200" b="0" i="0">
                <a:solidFill>
                  <a:srgbClr val="1F1F1F"/>
                </a:solidFill>
                <a:latin typeface="Calibri"/>
              </a:rPr>
              <a:t>A report, a README, an install guide, and a notebook that regenerates every figure from fixture data.</a:t>
            </a:r>
          </a:p>
        </p:txBody>
      </p:sp>
      <p:sp>
        <p:nvSpPr>
          <p:cNvPr id="21" name="Rounded Rectangle 20"/>
          <p:cNvSpPr/>
          <p:nvPr/>
        </p:nvSpPr>
        <p:spPr>
          <a:xfrm>
            <a:off x="548640" y="5806440"/>
            <a:ext cx="11155680" cy="594360"/>
          </a:xfrm>
          <a:prstGeom prst="roundRect">
            <a:avLst>
              <a:gd name="adj" fmla="val 8000"/>
            </a:avLst>
          </a:prstGeom>
          <a:solidFill>
            <a:srgbClr val="F2EEE4"/>
          </a:solidFill>
          <a:ln w="12700">
            <a:solidFill>
              <a:srgbClr val="B54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97880"/>
            <a:ext cx="10972800" cy="457200"/>
          </a:xfrm>
          <a:prstGeom prst="rect">
            <a:avLst/>
          </a:prstGeom>
          <a:noFill/>
        </p:spPr>
        <p:txBody>
          <a:bodyPr wrap="square" lIns="45720" rIns="45720" tIns="27432" bIns="27432" anchor="t">
            <a:spAutoFit/>
          </a:bodyPr>
          <a:lstStyle/>
          <a:p>
            <a:pPr algn="ctr"/>
            <a:r>
              <a:rPr sz="1200" b="0" i="1">
                <a:solidFill>
                  <a:srgbClr val="8B2E2A"/>
                </a:solidFill>
                <a:latin typeface="Georgia"/>
              </a:rPr>
              <a:t>Guardrail: every generated summary still goes through human review before publication. This is an assistant, not a replacement.</a:t>
            </a:r>
          </a:p>
        </p:txBody>
      </p:sp>
      <p:sp>
        <p:nvSpPr>
          <p:cNvPr id="23" name="Rectangle 22"/>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25" name="TextBox 24"/>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11155680" cy="1371600"/>
          </a:xfrm>
          <a:prstGeom prst="rect">
            <a:avLst/>
          </a:prstGeom>
          <a:noFill/>
        </p:spPr>
        <p:txBody>
          <a:bodyPr wrap="square" lIns="45720" rIns="45720" tIns="27432" bIns="27432" anchor="t">
            <a:spAutoFit/>
          </a:bodyPr>
          <a:lstStyle/>
          <a:p>
            <a:pPr algn="ctr"/>
            <a:r>
              <a:rPr sz="9200" b="1" i="0">
                <a:solidFill>
                  <a:srgbClr val="8B2E2A"/>
                </a:solidFill>
                <a:latin typeface="Georgia"/>
              </a:rPr>
              <a:t>THANK YOU</a:t>
            </a:r>
          </a:p>
        </p:txBody>
      </p:sp>
      <p:sp>
        <p:nvSpPr>
          <p:cNvPr id="4" name="Rectangle 3"/>
          <p:cNvSpPr/>
          <p:nvPr/>
        </p:nvSpPr>
        <p:spPr>
          <a:xfrm>
            <a:off x="5175504" y="2697480"/>
            <a:ext cx="182880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926080"/>
            <a:ext cx="11155680" cy="457200"/>
          </a:xfrm>
          <a:prstGeom prst="rect">
            <a:avLst/>
          </a:prstGeom>
          <a:noFill/>
        </p:spPr>
        <p:txBody>
          <a:bodyPr wrap="square" lIns="45720" rIns="45720" tIns="27432" bIns="27432" anchor="t">
            <a:spAutoFit/>
          </a:bodyPr>
          <a:lstStyle/>
          <a:p>
            <a:pPr algn="ctr"/>
            <a:r>
              <a:rPr sz="2000" b="0" i="1">
                <a:solidFill>
                  <a:srgbClr val="1F1F1F"/>
                </a:solidFill>
                <a:latin typeface="Georgia"/>
              </a:rPr>
              <a:t>to the Civil Rights Litigation Clearinghouse</a:t>
            </a:r>
          </a:p>
        </p:txBody>
      </p:sp>
      <p:sp>
        <p:nvSpPr>
          <p:cNvPr id="6" name="TextBox 5"/>
          <p:cNvSpPr txBox="1"/>
          <p:nvPr/>
        </p:nvSpPr>
        <p:spPr>
          <a:xfrm>
            <a:off x="548640" y="3337560"/>
            <a:ext cx="11155680" cy="365760"/>
          </a:xfrm>
          <a:prstGeom prst="rect">
            <a:avLst/>
          </a:prstGeom>
          <a:noFill/>
        </p:spPr>
        <p:txBody>
          <a:bodyPr wrap="square" lIns="45720" rIns="45720" tIns="27432" bIns="27432" anchor="t">
            <a:spAutoFit/>
          </a:bodyPr>
          <a:lstStyle/>
          <a:p>
            <a:pPr algn="ctr"/>
            <a:r>
              <a:rPr sz="1400" b="0" i="1">
                <a:solidFill>
                  <a:srgbClr val="6B6158"/>
                </a:solidFill>
                <a:latin typeface="Georgia"/>
              </a:rPr>
              <a:t>and to everyone at CMSE 495 who made this semester possible.</a:t>
            </a:r>
          </a:p>
        </p:txBody>
      </p:sp>
      <p:sp>
        <p:nvSpPr>
          <p:cNvPr id="7" name="Rounded Rectangle 6"/>
          <p:cNvSpPr/>
          <p:nvPr/>
        </p:nvSpPr>
        <p:spPr>
          <a:xfrm>
            <a:off x="609447" y="4297680"/>
            <a:ext cx="3474720" cy="164592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447" y="4480560"/>
            <a:ext cx="3474720" cy="320040"/>
          </a:xfrm>
          <a:prstGeom prst="rect">
            <a:avLst/>
          </a:prstGeom>
          <a:noFill/>
        </p:spPr>
        <p:txBody>
          <a:bodyPr wrap="square" lIns="45720" rIns="45720" tIns="27432" bIns="27432" anchor="t">
            <a:spAutoFit/>
          </a:bodyPr>
          <a:lstStyle/>
          <a:p>
            <a:pPr algn="ctr"/>
            <a:r>
              <a:rPr sz="1100" b="1" i="0">
                <a:solidFill>
                  <a:srgbClr val="B5443D"/>
                </a:solidFill>
                <a:latin typeface="Calibri"/>
              </a:rPr>
              <a:t>THE TEAM</a:t>
            </a:r>
          </a:p>
        </p:txBody>
      </p:sp>
      <p:sp>
        <p:nvSpPr>
          <p:cNvPr id="9" name="Rectangle 8"/>
          <p:cNvSpPr/>
          <p:nvPr/>
        </p:nvSpPr>
        <p:spPr>
          <a:xfrm>
            <a:off x="1889607" y="4800600"/>
            <a:ext cx="91440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327" y="4892040"/>
            <a:ext cx="3108960" cy="960120"/>
          </a:xfrm>
          <a:prstGeom prst="rect">
            <a:avLst/>
          </a:prstGeom>
          <a:noFill/>
        </p:spPr>
        <p:txBody>
          <a:bodyPr wrap="square" lIns="45720" rIns="45720" tIns="27432" bIns="27432" anchor="t">
            <a:spAutoFit/>
          </a:bodyPr>
          <a:lstStyle/>
          <a:p>
            <a:pPr algn="ctr"/>
            <a:r>
              <a:rPr sz="1200" b="0" i="0">
                <a:solidFill>
                  <a:srgbClr val="1F1F1F"/>
                </a:solidFill>
                <a:latin typeface="Georgia"/>
              </a:rPr>
              <a:t>Liam Sandy</a:t>
            </a:r>
          </a:p>
          <a:p>
            <a:pPr algn="ctr"/>
            <a:r>
              <a:rPr sz="1200" b="0" i="0">
                <a:solidFill>
                  <a:srgbClr val="1F1F1F"/>
                </a:solidFill>
                <a:latin typeface="Georgia"/>
              </a:rPr>
              <a:t>Nick Sleeper</a:t>
            </a:r>
          </a:p>
          <a:p>
            <a:pPr algn="ctr"/>
            <a:r>
              <a:rPr sz="1200" b="0" i="0">
                <a:solidFill>
                  <a:srgbClr val="1F1F1F"/>
                </a:solidFill>
                <a:latin typeface="Georgia"/>
              </a:rPr>
              <a:t>Ishmail Khan</a:t>
            </a:r>
          </a:p>
          <a:p>
            <a:pPr algn="ctr"/>
            <a:r>
              <a:rPr sz="1200" b="0" i="0">
                <a:solidFill>
                  <a:srgbClr val="1F1F1F"/>
                </a:solidFill>
                <a:latin typeface="Georgia"/>
              </a:rPr>
              <a:t>Jayant Sahai</a:t>
            </a:r>
          </a:p>
        </p:txBody>
      </p:sp>
      <p:sp>
        <p:nvSpPr>
          <p:cNvPr id="11" name="Rounded Rectangle 10"/>
          <p:cNvSpPr/>
          <p:nvPr/>
        </p:nvSpPr>
        <p:spPr>
          <a:xfrm>
            <a:off x="4358487" y="4297680"/>
            <a:ext cx="3474720" cy="164592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8487" y="4480560"/>
            <a:ext cx="3474720" cy="320040"/>
          </a:xfrm>
          <a:prstGeom prst="rect">
            <a:avLst/>
          </a:prstGeom>
          <a:noFill/>
        </p:spPr>
        <p:txBody>
          <a:bodyPr wrap="square" lIns="45720" rIns="45720" tIns="27432" bIns="27432" anchor="t">
            <a:spAutoFit/>
          </a:bodyPr>
          <a:lstStyle/>
          <a:p>
            <a:pPr algn="ctr"/>
            <a:r>
              <a:rPr sz="1100" b="1" i="0">
                <a:solidFill>
                  <a:srgbClr val="B5443D"/>
                </a:solidFill>
                <a:latin typeface="Calibri"/>
              </a:rPr>
              <a:t>THE REPO</a:t>
            </a:r>
          </a:p>
        </p:txBody>
      </p:sp>
      <p:sp>
        <p:nvSpPr>
          <p:cNvPr id="13" name="Rectangle 12"/>
          <p:cNvSpPr/>
          <p:nvPr/>
        </p:nvSpPr>
        <p:spPr>
          <a:xfrm>
            <a:off x="5638647" y="4800600"/>
            <a:ext cx="91440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1367" y="4892040"/>
            <a:ext cx="3108960" cy="960120"/>
          </a:xfrm>
          <a:prstGeom prst="rect">
            <a:avLst/>
          </a:prstGeom>
          <a:noFill/>
        </p:spPr>
        <p:txBody>
          <a:bodyPr wrap="square" lIns="45720" rIns="45720" tIns="27432" bIns="27432" anchor="t">
            <a:spAutoFit/>
          </a:bodyPr>
          <a:lstStyle/>
          <a:p>
            <a:pPr algn="ctr"/>
            <a:r>
              <a:rPr sz="1200" b="0" i="0">
                <a:solidFill>
                  <a:srgbClr val="1F1F1F"/>
                </a:solidFill>
                <a:latin typeface="Georgia"/>
              </a:rPr>
              <a:t>github.com/thinq8/</a:t>
            </a:r>
          </a:p>
          <a:p>
            <a:pPr algn="ctr"/>
            <a:r>
              <a:rPr sz="1200" b="0" i="0">
                <a:solidFill>
                  <a:srgbClr val="1F1F1F"/>
                </a:solidFill>
                <a:latin typeface="Georgia"/>
              </a:rPr>
              <a:t>CivilRightsSummarizedAI</a:t>
            </a:r>
          </a:p>
          <a:p>
            <a:pPr algn="ctr"/>
            <a:r>
              <a:rPr sz="1200" b="0" i="0">
                <a:solidFill>
                  <a:srgbClr val="1F1F1F"/>
                </a:solidFill>
                <a:latin typeface="Georgia"/>
              </a:rPr>
              <a:t/>
            </a:r>
          </a:p>
          <a:p>
            <a:pPr algn="ctr"/>
            <a:r>
              <a:rPr sz="1200" b="0" i="0">
                <a:solidFill>
                  <a:srgbClr val="1F1F1F"/>
                </a:solidFill>
                <a:latin typeface="Georgia"/>
              </a:rPr>
              <a:t>Fixtures + full instructions.</a:t>
            </a:r>
          </a:p>
        </p:txBody>
      </p:sp>
      <p:sp>
        <p:nvSpPr>
          <p:cNvPr id="15" name="Rounded Rectangle 14"/>
          <p:cNvSpPr/>
          <p:nvPr/>
        </p:nvSpPr>
        <p:spPr>
          <a:xfrm>
            <a:off x="8107527" y="4297680"/>
            <a:ext cx="3474720" cy="164592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7527" y="4480560"/>
            <a:ext cx="3474720" cy="320040"/>
          </a:xfrm>
          <a:prstGeom prst="rect">
            <a:avLst/>
          </a:prstGeom>
          <a:noFill/>
        </p:spPr>
        <p:txBody>
          <a:bodyPr wrap="square" lIns="45720" rIns="45720" tIns="27432" bIns="27432" anchor="t">
            <a:spAutoFit/>
          </a:bodyPr>
          <a:lstStyle/>
          <a:p>
            <a:pPr algn="ctr"/>
            <a:r>
              <a:rPr sz="1100" b="1" i="0">
                <a:solidFill>
                  <a:srgbClr val="B5443D"/>
                </a:solidFill>
                <a:latin typeface="Calibri"/>
              </a:rPr>
              <a:t>QUESTIONS?</a:t>
            </a:r>
          </a:p>
        </p:txBody>
      </p:sp>
      <p:sp>
        <p:nvSpPr>
          <p:cNvPr id="17" name="Rectangle 16"/>
          <p:cNvSpPr/>
          <p:nvPr/>
        </p:nvSpPr>
        <p:spPr>
          <a:xfrm>
            <a:off x="9387687" y="4800600"/>
            <a:ext cx="914400" cy="1905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4892040"/>
            <a:ext cx="3108960" cy="960120"/>
          </a:xfrm>
          <a:prstGeom prst="rect">
            <a:avLst/>
          </a:prstGeom>
          <a:noFill/>
        </p:spPr>
        <p:txBody>
          <a:bodyPr wrap="square" lIns="45720" rIns="45720" tIns="27432" bIns="27432" anchor="t">
            <a:spAutoFit/>
          </a:bodyPr>
          <a:lstStyle/>
          <a:p>
            <a:pPr algn="ctr"/>
            <a:r>
              <a:rPr sz="1200" b="0" i="0">
                <a:solidFill>
                  <a:srgbClr val="1F1F1F"/>
                </a:solidFill>
                <a:latin typeface="Georgia"/>
              </a:rPr>
              <a:t>We'll be at the poster</a:t>
            </a:r>
          </a:p>
          <a:p>
            <a:pPr algn="ctr"/>
            <a:r>
              <a:rPr sz="1200" b="0" i="0">
                <a:solidFill>
                  <a:srgbClr val="1F1F1F"/>
                </a:solidFill>
                <a:latin typeface="Georgia"/>
              </a:rPr>
              <a:t>for the rest of the session.</a:t>
            </a:r>
          </a:p>
          <a:p>
            <a:pPr algn="ctr"/>
            <a:r>
              <a:rPr sz="1200" b="0" i="0">
                <a:solidFill>
                  <a:srgbClr val="1F1F1F"/>
                </a:solidFill>
                <a:latin typeface="Georgia"/>
              </a:rPr>
              <a:t/>
            </a:r>
          </a:p>
          <a:p>
            <a:pPr algn="ctr"/>
            <a:r>
              <a:rPr sz="1200" b="0" i="0">
                <a:solidFill>
                  <a:srgbClr val="1F1F1F"/>
                </a:solidFill>
                <a:latin typeface="Georgia"/>
              </a:rPr>
              <a:t>Come say hi.</a:t>
            </a:r>
          </a:p>
        </p:txBody>
      </p:sp>
      <p:sp>
        <p:nvSpPr>
          <p:cNvPr id="19" name="Rectangle 18"/>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21" name="TextBox 20"/>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3200" b="1" i="0">
                <a:solidFill>
                  <a:srgbClr val="8B2E2A"/>
                </a:solidFill>
                <a:latin typeface="Georgia"/>
              </a:rPr>
              <a:t>BACKUP · ROLES &amp; LOGISTICS</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11155680" cy="365760"/>
          </a:xfrm>
          <a:prstGeom prst="rect">
            <a:avLst/>
          </a:prstGeom>
          <a:noFill/>
        </p:spPr>
        <p:txBody>
          <a:bodyPr wrap="square" lIns="45720" rIns="45720" tIns="27432" bIns="27432" anchor="t">
            <a:spAutoFit/>
          </a:bodyPr>
          <a:lstStyle/>
          <a:p>
            <a:pPr algn="l"/>
            <a:r>
              <a:rPr sz="1200" b="0" i="1">
                <a:solidFill>
                  <a:srgbClr val="6B6158"/>
                </a:solidFill>
                <a:latin typeface="Georgia"/>
              </a:rPr>
              <a:t>Who does what on symposium day — kept here for the team, not for the audience.</a:t>
            </a:r>
          </a:p>
        </p:txBody>
      </p:sp>
      <p:sp>
        <p:nvSpPr>
          <p:cNvPr id="6" name="Rounded Rectangle 5"/>
          <p:cNvSpPr/>
          <p:nvPr/>
        </p:nvSpPr>
        <p:spPr>
          <a:xfrm>
            <a:off x="548640" y="1874519"/>
            <a:ext cx="6766560" cy="4480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57399"/>
            <a:ext cx="6217920" cy="365760"/>
          </a:xfrm>
          <a:prstGeom prst="rect">
            <a:avLst/>
          </a:prstGeom>
          <a:noFill/>
        </p:spPr>
        <p:txBody>
          <a:bodyPr wrap="square" lIns="45720" rIns="45720" tIns="27432" bIns="27432" anchor="t">
            <a:spAutoFit/>
          </a:bodyPr>
          <a:lstStyle/>
          <a:p>
            <a:pPr algn="l"/>
            <a:r>
              <a:rPr sz="1100" b="1" i="0">
                <a:solidFill>
                  <a:srgbClr val="B5443D"/>
                </a:solidFill>
                <a:latin typeface="Calibri"/>
              </a:rPr>
              <a:t>TEAM ROLES</a:t>
            </a:r>
          </a:p>
        </p:txBody>
      </p:sp>
      <p:sp>
        <p:nvSpPr>
          <p:cNvPr id="8" name="TextBox 7"/>
          <p:cNvSpPr txBox="1"/>
          <p:nvPr/>
        </p:nvSpPr>
        <p:spPr>
          <a:xfrm>
            <a:off x="822960" y="2560319"/>
            <a:ext cx="2011680" cy="320040"/>
          </a:xfrm>
          <a:prstGeom prst="rect">
            <a:avLst/>
          </a:prstGeom>
          <a:noFill/>
        </p:spPr>
        <p:txBody>
          <a:bodyPr wrap="square" lIns="45720" rIns="45720" tIns="27432" bIns="27432" anchor="t">
            <a:spAutoFit/>
          </a:bodyPr>
          <a:lstStyle/>
          <a:p>
            <a:pPr algn="l"/>
            <a:r>
              <a:rPr sz="1300" b="1" i="0">
                <a:solidFill>
                  <a:srgbClr val="8B2E2A"/>
                </a:solidFill>
                <a:latin typeface="Georgia"/>
              </a:rPr>
              <a:t>Liam Sandy</a:t>
            </a:r>
          </a:p>
        </p:txBody>
      </p:sp>
      <p:sp>
        <p:nvSpPr>
          <p:cNvPr id="9" name="TextBox 8"/>
          <p:cNvSpPr txBox="1"/>
          <p:nvPr/>
        </p:nvSpPr>
        <p:spPr>
          <a:xfrm>
            <a:off x="2880360" y="2560319"/>
            <a:ext cx="4114800" cy="731520"/>
          </a:xfrm>
          <a:prstGeom prst="rect">
            <a:avLst/>
          </a:prstGeom>
          <a:noFill/>
        </p:spPr>
        <p:txBody>
          <a:bodyPr wrap="square" lIns="45720" rIns="45720" tIns="27432" bIns="27432" anchor="t">
            <a:spAutoFit/>
          </a:bodyPr>
          <a:lstStyle/>
          <a:p>
            <a:pPr algn="l"/>
            <a:r>
              <a:rPr sz="1100" b="0" i="0">
                <a:solidFill>
                  <a:srgbClr val="1F1F1F"/>
                </a:solidFill>
                <a:latin typeface="Calibri"/>
              </a:rPr>
              <a:t>Lead presenter. Opens and closes. Slides 1, 9, 10.</a:t>
            </a:r>
          </a:p>
        </p:txBody>
      </p:sp>
      <p:sp>
        <p:nvSpPr>
          <p:cNvPr id="10" name="TextBox 9"/>
          <p:cNvSpPr txBox="1"/>
          <p:nvPr/>
        </p:nvSpPr>
        <p:spPr>
          <a:xfrm>
            <a:off x="822960" y="3337559"/>
            <a:ext cx="2011680" cy="320040"/>
          </a:xfrm>
          <a:prstGeom prst="rect">
            <a:avLst/>
          </a:prstGeom>
          <a:noFill/>
        </p:spPr>
        <p:txBody>
          <a:bodyPr wrap="square" lIns="45720" rIns="45720" tIns="27432" bIns="27432" anchor="t">
            <a:spAutoFit/>
          </a:bodyPr>
          <a:lstStyle/>
          <a:p>
            <a:pPr algn="l"/>
            <a:r>
              <a:rPr sz="1300" b="1" i="0">
                <a:solidFill>
                  <a:srgbClr val="8B2E2A"/>
                </a:solidFill>
                <a:latin typeface="Georgia"/>
              </a:rPr>
              <a:t>Nick Sleeper</a:t>
            </a:r>
          </a:p>
        </p:txBody>
      </p:sp>
      <p:sp>
        <p:nvSpPr>
          <p:cNvPr id="11" name="TextBox 10"/>
          <p:cNvSpPr txBox="1"/>
          <p:nvPr/>
        </p:nvSpPr>
        <p:spPr>
          <a:xfrm>
            <a:off x="2880360" y="3337559"/>
            <a:ext cx="4114800" cy="731520"/>
          </a:xfrm>
          <a:prstGeom prst="rect">
            <a:avLst/>
          </a:prstGeom>
          <a:noFill/>
        </p:spPr>
        <p:txBody>
          <a:bodyPr wrap="square" lIns="45720" rIns="45720" tIns="27432" bIns="27432" anchor="t">
            <a:spAutoFit/>
          </a:bodyPr>
          <a:lstStyle/>
          <a:p>
            <a:pPr algn="l"/>
            <a:r>
              <a:rPr sz="1100" b="0" i="0">
                <a:solidFill>
                  <a:srgbClr val="1F1F1F"/>
                </a:solidFill>
                <a:latin typeface="Calibri"/>
              </a:rPr>
              <a:t>Build narrator. Pipeline + fragmentation. Slides 4, 5, 6.</a:t>
            </a:r>
          </a:p>
        </p:txBody>
      </p:sp>
      <p:sp>
        <p:nvSpPr>
          <p:cNvPr id="12" name="TextBox 11"/>
          <p:cNvSpPr txBox="1"/>
          <p:nvPr/>
        </p:nvSpPr>
        <p:spPr>
          <a:xfrm>
            <a:off x="822960" y="4114799"/>
            <a:ext cx="2011680" cy="320040"/>
          </a:xfrm>
          <a:prstGeom prst="rect">
            <a:avLst/>
          </a:prstGeom>
          <a:noFill/>
        </p:spPr>
        <p:txBody>
          <a:bodyPr wrap="square" lIns="45720" rIns="45720" tIns="27432" bIns="27432" anchor="t">
            <a:spAutoFit/>
          </a:bodyPr>
          <a:lstStyle/>
          <a:p>
            <a:pPr algn="l"/>
            <a:r>
              <a:rPr sz="1300" b="1" i="0">
                <a:solidFill>
                  <a:srgbClr val="8B2E2A"/>
                </a:solidFill>
                <a:latin typeface="Georgia"/>
              </a:rPr>
              <a:t>Ishmail Khan</a:t>
            </a:r>
          </a:p>
        </p:txBody>
      </p:sp>
      <p:sp>
        <p:nvSpPr>
          <p:cNvPr id="13" name="TextBox 12"/>
          <p:cNvSpPr txBox="1"/>
          <p:nvPr/>
        </p:nvSpPr>
        <p:spPr>
          <a:xfrm>
            <a:off x="2880360" y="4114799"/>
            <a:ext cx="4114800" cy="731520"/>
          </a:xfrm>
          <a:prstGeom prst="rect">
            <a:avLst/>
          </a:prstGeom>
          <a:noFill/>
        </p:spPr>
        <p:txBody>
          <a:bodyPr wrap="square" lIns="45720" rIns="45720" tIns="27432" bIns="27432" anchor="t">
            <a:spAutoFit/>
          </a:bodyPr>
          <a:lstStyle/>
          <a:p>
            <a:pPr algn="l"/>
            <a:r>
              <a:rPr sz="1100" b="0" i="0">
                <a:solidFill>
                  <a:srgbClr val="1F1F1F"/>
                </a:solidFill>
                <a:latin typeface="Calibri"/>
              </a:rPr>
              <a:t>Problem framer. Sets the stakes. Slides 2, 3.</a:t>
            </a:r>
          </a:p>
        </p:txBody>
      </p:sp>
      <p:sp>
        <p:nvSpPr>
          <p:cNvPr id="14" name="TextBox 13"/>
          <p:cNvSpPr txBox="1"/>
          <p:nvPr/>
        </p:nvSpPr>
        <p:spPr>
          <a:xfrm>
            <a:off x="822960" y="4892039"/>
            <a:ext cx="2011680" cy="320040"/>
          </a:xfrm>
          <a:prstGeom prst="rect">
            <a:avLst/>
          </a:prstGeom>
          <a:noFill/>
        </p:spPr>
        <p:txBody>
          <a:bodyPr wrap="square" lIns="45720" rIns="45720" tIns="27432" bIns="27432" anchor="t">
            <a:spAutoFit/>
          </a:bodyPr>
          <a:lstStyle/>
          <a:p>
            <a:pPr algn="l"/>
            <a:r>
              <a:rPr sz="1300" b="1" i="0">
                <a:solidFill>
                  <a:srgbClr val="8B2E2A"/>
                </a:solidFill>
                <a:latin typeface="Georgia"/>
              </a:rPr>
              <a:t>Jayant Sahai</a:t>
            </a:r>
          </a:p>
        </p:txBody>
      </p:sp>
      <p:sp>
        <p:nvSpPr>
          <p:cNvPr id="15" name="TextBox 14"/>
          <p:cNvSpPr txBox="1"/>
          <p:nvPr/>
        </p:nvSpPr>
        <p:spPr>
          <a:xfrm>
            <a:off x="2880360" y="4892039"/>
            <a:ext cx="4114800" cy="731520"/>
          </a:xfrm>
          <a:prstGeom prst="rect">
            <a:avLst/>
          </a:prstGeom>
          <a:noFill/>
        </p:spPr>
        <p:txBody>
          <a:bodyPr wrap="square" lIns="45720" rIns="45720" tIns="27432" bIns="27432" anchor="t">
            <a:spAutoFit/>
          </a:bodyPr>
          <a:lstStyle/>
          <a:p>
            <a:pPr algn="l"/>
            <a:r>
              <a:rPr sz="1100" b="0" i="0">
                <a:solidFill>
                  <a:srgbClr val="1F1F1F"/>
                </a:solidFill>
                <a:latin typeface="Calibri"/>
              </a:rPr>
              <a:t>Results lead. Owns the numbers. Slides 7, 8.</a:t>
            </a:r>
          </a:p>
        </p:txBody>
      </p:sp>
      <p:sp>
        <p:nvSpPr>
          <p:cNvPr id="16" name="TextBox 15"/>
          <p:cNvSpPr txBox="1"/>
          <p:nvPr/>
        </p:nvSpPr>
        <p:spPr>
          <a:xfrm>
            <a:off x="822960" y="5669279"/>
            <a:ext cx="2011680" cy="320040"/>
          </a:xfrm>
          <a:prstGeom prst="rect">
            <a:avLst/>
          </a:prstGeom>
          <a:noFill/>
        </p:spPr>
        <p:txBody>
          <a:bodyPr wrap="square" lIns="45720" rIns="45720" tIns="27432" bIns="27432" anchor="t">
            <a:spAutoFit/>
          </a:bodyPr>
          <a:lstStyle/>
          <a:p>
            <a:pPr algn="l"/>
            <a:r>
              <a:rPr sz="1300" b="1" i="0">
                <a:solidFill>
                  <a:srgbClr val="8B2E2A"/>
                </a:solidFill>
                <a:latin typeface="Georgia"/>
              </a:rPr>
              <a:t>All four</a:t>
            </a:r>
          </a:p>
        </p:txBody>
      </p:sp>
      <p:sp>
        <p:nvSpPr>
          <p:cNvPr id="17" name="TextBox 16"/>
          <p:cNvSpPr txBox="1"/>
          <p:nvPr/>
        </p:nvSpPr>
        <p:spPr>
          <a:xfrm>
            <a:off x="2880360" y="5669279"/>
            <a:ext cx="4114800" cy="731520"/>
          </a:xfrm>
          <a:prstGeom prst="rect">
            <a:avLst/>
          </a:prstGeom>
          <a:noFill/>
        </p:spPr>
        <p:txBody>
          <a:bodyPr wrap="square" lIns="45720" rIns="45720" tIns="27432" bIns="27432" anchor="t">
            <a:spAutoFit/>
          </a:bodyPr>
          <a:lstStyle/>
          <a:p>
            <a:pPr algn="l"/>
            <a:r>
              <a:rPr sz="1100" b="0" i="0">
                <a:solidFill>
                  <a:srgbClr val="1F1F1F"/>
                </a:solidFill>
                <a:latin typeface="Calibri"/>
              </a:rPr>
              <a:t>Networking. One corner of the poster each after the talk.</a:t>
            </a:r>
          </a:p>
        </p:txBody>
      </p:sp>
      <p:sp>
        <p:nvSpPr>
          <p:cNvPr id="18" name="Rounded Rectangle 17"/>
          <p:cNvSpPr/>
          <p:nvPr/>
        </p:nvSpPr>
        <p:spPr>
          <a:xfrm>
            <a:off x="7543800" y="1874519"/>
            <a:ext cx="4160520" cy="210312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20" y="2011680"/>
            <a:ext cx="3611880" cy="274320"/>
          </a:xfrm>
          <a:prstGeom prst="rect">
            <a:avLst/>
          </a:prstGeom>
          <a:noFill/>
        </p:spPr>
        <p:txBody>
          <a:bodyPr wrap="square" lIns="45720" rIns="45720" tIns="27432" bIns="27432" anchor="t">
            <a:spAutoFit/>
          </a:bodyPr>
          <a:lstStyle/>
          <a:p>
            <a:pPr algn="l"/>
            <a:r>
              <a:rPr sz="1000" b="1" i="0">
                <a:solidFill>
                  <a:srgbClr val="B5443D"/>
                </a:solidFill>
                <a:latin typeface="Calibri"/>
              </a:rPr>
              <a:t>DRESS CODE</a:t>
            </a:r>
          </a:p>
        </p:txBody>
      </p:sp>
      <p:sp>
        <p:nvSpPr>
          <p:cNvPr id="20" name="TextBox 19"/>
          <p:cNvSpPr txBox="1"/>
          <p:nvPr/>
        </p:nvSpPr>
        <p:spPr>
          <a:xfrm>
            <a:off x="7818120" y="2286000"/>
            <a:ext cx="3611880" cy="1691640"/>
          </a:xfrm>
          <a:prstGeom prst="rect">
            <a:avLst/>
          </a:prstGeom>
          <a:noFill/>
        </p:spPr>
        <p:txBody>
          <a:bodyPr wrap="square" lIns="45720" rIns="45720" tIns="27432" bIns="27432" anchor="t">
            <a:spAutoFit/>
          </a:bodyPr>
          <a:lstStyle/>
          <a:p>
            <a:pPr algn="l"/>
            <a:r>
              <a:rPr sz="1000" b="0" i="0">
                <a:solidFill>
                  <a:srgbClr val="1F1F1F"/>
                </a:solidFill>
                <a:latin typeface="Calibri"/>
              </a:rPr>
              <a:t>Business casual.</a:t>
            </a:r>
          </a:p>
          <a:p>
            <a:pPr algn="l"/>
            <a:r>
              <a:rPr sz="1000" b="0" i="0">
                <a:solidFill>
                  <a:srgbClr val="1F1F1F"/>
                </a:solidFill>
                <a:latin typeface="Calibri"/>
              </a:rPr>
              <a:t>• Dark slacks, no jeans</a:t>
            </a:r>
          </a:p>
          <a:p>
            <a:pPr algn="l"/>
            <a:r>
              <a:rPr sz="1000" b="0" i="0">
                <a:solidFill>
                  <a:srgbClr val="1F1F1F"/>
                </a:solidFill>
                <a:latin typeface="Calibri"/>
              </a:rPr>
              <a:t>• White or MSU-green collared shirt</a:t>
            </a:r>
          </a:p>
          <a:p>
            <a:pPr algn="l"/>
            <a:r>
              <a:rPr sz="1000" b="0" i="0">
                <a:solidFill>
                  <a:srgbClr val="1F1F1F"/>
                </a:solidFill>
                <a:latin typeface="Calibri"/>
              </a:rPr>
              <a:t>• Closed-toe shoes</a:t>
            </a:r>
          </a:p>
          <a:p>
            <a:pPr algn="l"/>
            <a:r>
              <a:rPr sz="1000" b="0" i="0">
                <a:solidFill>
                  <a:srgbClr val="1F1F1F"/>
                </a:solidFill>
                <a:latin typeface="Calibri"/>
              </a:rPr>
              <a:t>• Name tags on the right</a:t>
            </a:r>
          </a:p>
        </p:txBody>
      </p:sp>
      <p:sp>
        <p:nvSpPr>
          <p:cNvPr id="21" name="Rounded Rectangle 20"/>
          <p:cNvSpPr/>
          <p:nvPr/>
        </p:nvSpPr>
        <p:spPr>
          <a:xfrm>
            <a:off x="7543800" y="4160520"/>
            <a:ext cx="4160520" cy="219456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18120" y="4297680"/>
            <a:ext cx="3611880" cy="274320"/>
          </a:xfrm>
          <a:prstGeom prst="rect">
            <a:avLst/>
          </a:prstGeom>
          <a:noFill/>
        </p:spPr>
        <p:txBody>
          <a:bodyPr wrap="square" lIns="45720" rIns="45720" tIns="27432" bIns="27432" anchor="t">
            <a:spAutoFit/>
          </a:bodyPr>
          <a:lstStyle/>
          <a:p>
            <a:pPr algn="l"/>
            <a:r>
              <a:rPr sz="1000" b="1" i="0">
                <a:solidFill>
                  <a:srgbClr val="B5443D"/>
                </a:solidFill>
                <a:latin typeface="Calibri"/>
              </a:rPr>
              <a:t>DAY-OF CHECKLIST</a:t>
            </a:r>
          </a:p>
        </p:txBody>
      </p:sp>
      <p:sp>
        <p:nvSpPr>
          <p:cNvPr id="23" name="TextBox 22"/>
          <p:cNvSpPr txBox="1"/>
          <p:nvPr/>
        </p:nvSpPr>
        <p:spPr>
          <a:xfrm>
            <a:off x="7818120" y="4572000"/>
            <a:ext cx="3611880" cy="1828800"/>
          </a:xfrm>
          <a:prstGeom prst="rect">
            <a:avLst/>
          </a:prstGeom>
          <a:noFill/>
        </p:spPr>
        <p:txBody>
          <a:bodyPr wrap="square" lIns="45720" rIns="45720" tIns="27432" bIns="27432" anchor="t">
            <a:spAutoFit/>
          </a:bodyPr>
          <a:lstStyle/>
          <a:p>
            <a:pPr algn="l"/>
            <a:r>
              <a:rPr sz="1000" b="0" i="0">
                <a:solidFill>
                  <a:srgbClr val="1F1F1F"/>
                </a:solidFill>
                <a:latin typeface="Calibri"/>
              </a:rPr>
              <a:t>• Arrive 45 min early, test HDMI + clicker</a:t>
            </a:r>
          </a:p>
          <a:p>
            <a:pPr algn="l"/>
            <a:r>
              <a:rPr sz="1000" b="0" i="0">
                <a:solidFill>
                  <a:srgbClr val="1F1F1F"/>
                </a:solidFill>
                <a:latin typeface="Calibri"/>
              </a:rPr>
              <a:t>• Liam: laptop + USB backup</a:t>
            </a:r>
          </a:p>
          <a:p>
            <a:pPr algn="l"/>
            <a:r>
              <a:rPr sz="1000" b="0" i="0">
                <a:solidFill>
                  <a:srgbClr val="1F1F1F"/>
                </a:solidFill>
                <a:latin typeface="Calibri"/>
              </a:rPr>
              <a:t>• Nick: printed QR code to the repo</a:t>
            </a:r>
          </a:p>
          <a:p>
            <a:pPr algn="l"/>
            <a:r>
              <a:rPr sz="1000" b="0" i="0">
                <a:solidFill>
                  <a:srgbClr val="1F1F1F"/>
                </a:solidFill>
                <a:latin typeface="Calibri"/>
              </a:rPr>
              <a:t>• Ishmail: one-pagers for the partner</a:t>
            </a:r>
          </a:p>
          <a:p>
            <a:pPr algn="l"/>
            <a:r>
              <a:rPr sz="1000" b="0" i="0">
                <a:solidFill>
                  <a:srgbClr val="1F1F1F"/>
                </a:solidFill>
                <a:latin typeface="Calibri"/>
              </a:rPr>
              <a:t>• Jayant: 5-minute timer during the talk</a:t>
            </a:r>
          </a:p>
          <a:p>
            <a:pPr algn="l"/>
            <a:r>
              <a:rPr sz="1000" b="0" i="0">
                <a:solidFill>
                  <a:srgbClr val="1F1F1F"/>
                </a:solidFill>
                <a:latin typeface="Calibri"/>
              </a:rPr>
              <a:t>• Rehearse twice the night before</a:t>
            </a:r>
          </a:p>
        </p:txBody>
      </p:sp>
      <p:sp>
        <p:nvSpPr>
          <p:cNvPr id="24" name="Rectangle 23"/>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26" name="TextBox 25"/>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3200" b="1" i="0">
                <a:solidFill>
                  <a:srgbClr val="8B2E2A"/>
                </a:solidFill>
                <a:latin typeface="Georgia"/>
              </a:rPr>
              <a:t>BACKUP · ANTICIPATED Q&amp;A</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11155680" cy="365760"/>
          </a:xfrm>
          <a:prstGeom prst="rect">
            <a:avLst/>
          </a:prstGeom>
          <a:noFill/>
        </p:spPr>
        <p:txBody>
          <a:bodyPr wrap="square" lIns="45720" rIns="45720" tIns="27432" bIns="27432" anchor="t">
            <a:spAutoFit/>
          </a:bodyPr>
          <a:lstStyle/>
          <a:p>
            <a:pPr algn="l"/>
            <a:r>
              <a:rPr sz="1200" b="0" i="1">
                <a:solidFill>
                  <a:srgbClr val="6B6158"/>
                </a:solidFill>
                <a:latin typeface="Georgia"/>
              </a:rPr>
              <a:t>Pre-baked answers for the six questions we think are most likely.</a:t>
            </a:r>
          </a:p>
        </p:txBody>
      </p:sp>
      <p:sp>
        <p:nvSpPr>
          <p:cNvPr id="6" name="Rounded Rectangle 5"/>
          <p:cNvSpPr/>
          <p:nvPr/>
        </p:nvSpPr>
        <p:spPr>
          <a:xfrm>
            <a:off x="502920" y="1828800"/>
            <a:ext cx="5577840" cy="137160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828800"/>
            <a:ext cx="109728" cy="13716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38528"/>
            <a:ext cx="5120640" cy="365760"/>
          </a:xfrm>
          <a:prstGeom prst="rect">
            <a:avLst/>
          </a:prstGeom>
          <a:noFill/>
        </p:spPr>
        <p:txBody>
          <a:bodyPr wrap="square" lIns="45720" rIns="45720" tIns="27432" bIns="27432" anchor="t">
            <a:spAutoFit/>
          </a:bodyPr>
          <a:lstStyle/>
          <a:p>
            <a:pPr algn="l"/>
            <a:r>
              <a:rPr sz="1100" b="1" i="0">
                <a:solidFill>
                  <a:srgbClr val="8B2E2A"/>
                </a:solidFill>
                <a:latin typeface="Georgia"/>
              </a:rPr>
              <a:t>Q · Will this replace Clearinghouse staff?</a:t>
            </a:r>
          </a:p>
        </p:txBody>
      </p:sp>
      <p:sp>
        <p:nvSpPr>
          <p:cNvPr id="9" name="TextBox 8"/>
          <p:cNvSpPr txBox="1"/>
          <p:nvPr/>
        </p:nvSpPr>
        <p:spPr>
          <a:xfrm>
            <a:off x="777240" y="2286000"/>
            <a:ext cx="5120640" cy="822960"/>
          </a:xfrm>
          <a:prstGeom prst="rect">
            <a:avLst/>
          </a:prstGeom>
          <a:noFill/>
        </p:spPr>
        <p:txBody>
          <a:bodyPr wrap="square" lIns="45720" rIns="45720" tIns="27432" bIns="27432" anchor="t">
            <a:spAutoFit/>
          </a:bodyPr>
          <a:lstStyle/>
          <a:p>
            <a:pPr algn="l"/>
            <a:r>
              <a:rPr sz="1000" b="0" i="0">
                <a:solidFill>
                  <a:srgbClr val="1F1F1F"/>
                </a:solidFill>
                <a:latin typeface="Calibri"/>
              </a:rPr>
              <a:t>A · No. It is an assistive tool. Every generated summary still goes through human review before publication.</a:t>
            </a:r>
          </a:p>
        </p:txBody>
      </p:sp>
      <p:sp>
        <p:nvSpPr>
          <p:cNvPr id="10" name="Rounded Rectangle 9"/>
          <p:cNvSpPr/>
          <p:nvPr/>
        </p:nvSpPr>
        <p:spPr>
          <a:xfrm>
            <a:off x="6217920" y="1828800"/>
            <a:ext cx="5577840" cy="137160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828800"/>
            <a:ext cx="109728" cy="13716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938528"/>
            <a:ext cx="5120640" cy="365760"/>
          </a:xfrm>
          <a:prstGeom prst="rect">
            <a:avLst/>
          </a:prstGeom>
          <a:noFill/>
        </p:spPr>
        <p:txBody>
          <a:bodyPr wrap="square" lIns="45720" rIns="45720" tIns="27432" bIns="27432" anchor="t">
            <a:spAutoFit/>
          </a:bodyPr>
          <a:lstStyle/>
          <a:p>
            <a:pPr algn="l"/>
            <a:r>
              <a:rPr sz="1100" b="1" i="0">
                <a:solidFill>
                  <a:srgbClr val="8B2E2A"/>
                </a:solidFill>
                <a:latin typeface="Georgia"/>
              </a:rPr>
              <a:t>Q · How do you know the model isn't hallucinating?</a:t>
            </a:r>
          </a:p>
        </p:txBody>
      </p:sp>
      <p:sp>
        <p:nvSpPr>
          <p:cNvPr id="13" name="TextBox 12"/>
          <p:cNvSpPr txBox="1"/>
          <p:nvPr/>
        </p:nvSpPr>
        <p:spPr>
          <a:xfrm>
            <a:off x="6492240" y="2286000"/>
            <a:ext cx="5120640" cy="822960"/>
          </a:xfrm>
          <a:prstGeom prst="rect">
            <a:avLst/>
          </a:prstGeom>
          <a:noFill/>
        </p:spPr>
        <p:txBody>
          <a:bodyPr wrap="square" lIns="45720" rIns="45720" tIns="27432" bIns="27432" anchor="t">
            <a:spAutoFit/>
          </a:bodyPr>
          <a:lstStyle/>
          <a:p>
            <a:pPr algn="l"/>
            <a:r>
              <a:rPr sz="1000" b="0" i="0">
                <a:solidFill>
                  <a:srgbClr val="1F1F1F"/>
                </a:solidFill>
                <a:latin typeface="Calibri"/>
              </a:rPr>
              <a:t>A · Factual accuracy is scored as its own dimension by the LLM judge. Low scores flag a summary for closer review.</a:t>
            </a:r>
          </a:p>
        </p:txBody>
      </p:sp>
      <p:sp>
        <p:nvSpPr>
          <p:cNvPr id="14" name="Rounded Rectangle 13"/>
          <p:cNvSpPr/>
          <p:nvPr/>
        </p:nvSpPr>
        <p:spPr>
          <a:xfrm>
            <a:off x="502920" y="3337560"/>
            <a:ext cx="5577840" cy="137160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337560"/>
            <a:ext cx="109728" cy="13716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447288"/>
            <a:ext cx="5120640" cy="365760"/>
          </a:xfrm>
          <a:prstGeom prst="rect">
            <a:avLst/>
          </a:prstGeom>
          <a:noFill/>
        </p:spPr>
        <p:txBody>
          <a:bodyPr wrap="square" lIns="45720" rIns="45720" tIns="27432" bIns="27432" anchor="t">
            <a:spAutoFit/>
          </a:bodyPr>
          <a:lstStyle/>
          <a:p>
            <a:pPr algn="l"/>
            <a:r>
              <a:rPr sz="1100" b="1" i="0">
                <a:solidFill>
                  <a:srgbClr val="8B2E2A"/>
                </a:solidFill>
                <a:latin typeface="Georgia"/>
              </a:rPr>
              <a:t>Q · Why Qwen2.5-7B and not GPT-4?</a:t>
            </a:r>
          </a:p>
        </p:txBody>
      </p:sp>
      <p:sp>
        <p:nvSpPr>
          <p:cNvPr id="17" name="TextBox 16"/>
          <p:cNvSpPr txBox="1"/>
          <p:nvPr/>
        </p:nvSpPr>
        <p:spPr>
          <a:xfrm>
            <a:off x="777240" y="3794760"/>
            <a:ext cx="5120640" cy="822960"/>
          </a:xfrm>
          <a:prstGeom prst="rect">
            <a:avLst/>
          </a:prstGeom>
          <a:noFill/>
        </p:spPr>
        <p:txBody>
          <a:bodyPr wrap="square" lIns="45720" rIns="45720" tIns="27432" bIns="27432" anchor="t">
            <a:spAutoFit/>
          </a:bodyPr>
          <a:lstStyle/>
          <a:p>
            <a:pPr algn="l"/>
            <a:r>
              <a:rPr sz="1000" b="0" i="0">
                <a:solidFill>
                  <a:srgbClr val="1F1F1F"/>
                </a:solidFill>
                <a:latin typeface="Calibri"/>
              </a:rPr>
              <a:t>A · The Clearinghouse needs to run this privately on case data. Open weights + LoRA keeps everything on their infrastructure.</a:t>
            </a:r>
          </a:p>
        </p:txBody>
      </p:sp>
      <p:sp>
        <p:nvSpPr>
          <p:cNvPr id="18" name="Rounded Rectangle 17"/>
          <p:cNvSpPr/>
          <p:nvPr/>
        </p:nvSpPr>
        <p:spPr>
          <a:xfrm>
            <a:off x="6217920" y="3337560"/>
            <a:ext cx="5577840" cy="137160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337560"/>
            <a:ext cx="109728" cy="13716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447288"/>
            <a:ext cx="5120640" cy="365760"/>
          </a:xfrm>
          <a:prstGeom prst="rect">
            <a:avLst/>
          </a:prstGeom>
          <a:noFill/>
        </p:spPr>
        <p:txBody>
          <a:bodyPr wrap="square" lIns="45720" rIns="45720" tIns="27432" bIns="27432" anchor="t">
            <a:spAutoFit/>
          </a:bodyPr>
          <a:lstStyle/>
          <a:p>
            <a:pPr algn="l"/>
            <a:r>
              <a:rPr sz="1100" b="1" i="0">
                <a:solidFill>
                  <a:srgbClr val="8B2E2A"/>
                </a:solidFill>
                <a:latin typeface="Georgia"/>
              </a:rPr>
              <a:t>Q · What was the hardest part?</a:t>
            </a:r>
          </a:p>
        </p:txBody>
      </p:sp>
      <p:sp>
        <p:nvSpPr>
          <p:cNvPr id="21" name="TextBox 20"/>
          <p:cNvSpPr txBox="1"/>
          <p:nvPr/>
        </p:nvSpPr>
        <p:spPr>
          <a:xfrm>
            <a:off x="6492240" y="3794760"/>
            <a:ext cx="5120640" cy="822960"/>
          </a:xfrm>
          <a:prstGeom prst="rect">
            <a:avLst/>
          </a:prstGeom>
          <a:noFill/>
        </p:spPr>
        <p:txBody>
          <a:bodyPr wrap="square" lIns="45720" rIns="45720" tIns="27432" bIns="27432" anchor="t">
            <a:spAutoFit/>
          </a:bodyPr>
          <a:lstStyle/>
          <a:p>
            <a:pPr algn="l"/>
            <a:r>
              <a:rPr sz="1000" b="0" i="0">
                <a:solidFill>
                  <a:srgbClr val="1F1F1F"/>
                </a:solidFill>
                <a:latin typeface="Calibri"/>
              </a:rPr>
              <a:t>A · Document fragmentation. Our first training run went to NaN. Fixing it meant rebuilding the data prep pipeline.</a:t>
            </a:r>
          </a:p>
        </p:txBody>
      </p:sp>
      <p:sp>
        <p:nvSpPr>
          <p:cNvPr id="22" name="Rounded Rectangle 21"/>
          <p:cNvSpPr/>
          <p:nvPr/>
        </p:nvSpPr>
        <p:spPr>
          <a:xfrm>
            <a:off x="502920" y="4846320"/>
            <a:ext cx="5577840" cy="137160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846320"/>
            <a:ext cx="109728" cy="13716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56048"/>
            <a:ext cx="5120640" cy="365760"/>
          </a:xfrm>
          <a:prstGeom prst="rect">
            <a:avLst/>
          </a:prstGeom>
          <a:noFill/>
        </p:spPr>
        <p:txBody>
          <a:bodyPr wrap="square" lIns="45720" rIns="45720" tIns="27432" bIns="27432" anchor="t">
            <a:spAutoFit/>
          </a:bodyPr>
          <a:lstStyle/>
          <a:p>
            <a:pPr algn="l"/>
            <a:r>
              <a:rPr sz="1100" b="1" i="0">
                <a:solidFill>
                  <a:srgbClr val="8B2E2A"/>
                </a:solidFill>
                <a:latin typeface="Georgia"/>
              </a:rPr>
              <a:t>Q · Are there privacy concerns with the data?</a:t>
            </a:r>
          </a:p>
        </p:txBody>
      </p:sp>
      <p:sp>
        <p:nvSpPr>
          <p:cNvPr id="25" name="TextBox 24"/>
          <p:cNvSpPr txBox="1"/>
          <p:nvPr/>
        </p:nvSpPr>
        <p:spPr>
          <a:xfrm>
            <a:off x="777240" y="5303520"/>
            <a:ext cx="5120640" cy="822960"/>
          </a:xfrm>
          <a:prstGeom prst="rect">
            <a:avLst/>
          </a:prstGeom>
          <a:noFill/>
        </p:spPr>
        <p:txBody>
          <a:bodyPr wrap="square" lIns="45720" rIns="45720" tIns="27432" bIns="27432" anchor="t">
            <a:spAutoFit/>
          </a:bodyPr>
          <a:lstStyle/>
          <a:p>
            <a:pPr algn="l"/>
            <a:r>
              <a:rPr sz="1000" b="0" i="0">
                <a:solidFill>
                  <a:srgbClr val="1F1F1F"/>
                </a:solidFill>
                <a:latin typeface="Calibri"/>
              </a:rPr>
              <a:t>A · All source documents are public court filings. Reference summaries are Clearinghouse IP and stay out of the repo.</a:t>
            </a:r>
          </a:p>
        </p:txBody>
      </p:sp>
      <p:sp>
        <p:nvSpPr>
          <p:cNvPr id="26" name="Rounded Rectangle 25"/>
          <p:cNvSpPr/>
          <p:nvPr/>
        </p:nvSpPr>
        <p:spPr>
          <a:xfrm>
            <a:off x="6217920" y="4846320"/>
            <a:ext cx="5577840" cy="1371600"/>
          </a:xfrm>
          <a:prstGeom prst="roundRect">
            <a:avLst>
              <a:gd name="adj" fmla="val 8000"/>
            </a:avLst>
          </a:prstGeom>
          <a:solidFill>
            <a:srgbClr val="FAF7EF"/>
          </a:solidFill>
          <a:ln w="9525">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4846320"/>
            <a:ext cx="109728" cy="13716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4956048"/>
            <a:ext cx="5120640" cy="365760"/>
          </a:xfrm>
          <a:prstGeom prst="rect">
            <a:avLst/>
          </a:prstGeom>
          <a:noFill/>
        </p:spPr>
        <p:txBody>
          <a:bodyPr wrap="square" lIns="45720" rIns="45720" tIns="27432" bIns="27432" anchor="t">
            <a:spAutoFit/>
          </a:bodyPr>
          <a:lstStyle/>
          <a:p>
            <a:pPr algn="l"/>
            <a:r>
              <a:rPr sz="1100" b="1" i="0">
                <a:solidFill>
                  <a:srgbClr val="8B2E2A"/>
                </a:solidFill>
                <a:latin typeface="Georgia"/>
              </a:rPr>
              <a:t>Q · What would you do with another semester?</a:t>
            </a:r>
          </a:p>
        </p:txBody>
      </p:sp>
      <p:sp>
        <p:nvSpPr>
          <p:cNvPr id="29" name="TextBox 28"/>
          <p:cNvSpPr txBox="1"/>
          <p:nvPr/>
        </p:nvSpPr>
        <p:spPr>
          <a:xfrm>
            <a:off x="6492240" y="5303520"/>
            <a:ext cx="5120640" cy="822960"/>
          </a:xfrm>
          <a:prstGeom prst="rect">
            <a:avLst/>
          </a:prstGeom>
          <a:noFill/>
        </p:spPr>
        <p:txBody>
          <a:bodyPr wrap="square" lIns="45720" rIns="45720" tIns="27432" bIns="27432" anchor="t">
            <a:spAutoFit/>
          </a:bodyPr>
          <a:lstStyle/>
          <a:p>
            <a:pPr algn="l"/>
            <a:r>
              <a:rPr sz="1000" b="0" i="0">
                <a:solidFill>
                  <a:srgbClr val="1F1F1F"/>
                </a:solidFill>
                <a:latin typeface="Calibri"/>
              </a:rPr>
              <a:t>A · A web UI for staff, test on cases outside the database, and try larger base models once compute allows.</a:t>
            </a:r>
          </a:p>
        </p:txBody>
      </p:sp>
      <p:sp>
        <p:nvSpPr>
          <p:cNvPr id="30" name="Rectangle 29"/>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32" name="TextBox 31"/>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EE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155680" cy="822960"/>
          </a:xfrm>
          <a:prstGeom prst="rect">
            <a:avLst/>
          </a:prstGeom>
          <a:noFill/>
        </p:spPr>
        <p:txBody>
          <a:bodyPr wrap="square" lIns="45720" rIns="45720" tIns="27432" bIns="27432" anchor="t">
            <a:spAutoFit/>
          </a:bodyPr>
          <a:lstStyle/>
          <a:p>
            <a:pPr algn="l"/>
            <a:r>
              <a:rPr sz="3000" b="1" i="0">
                <a:solidFill>
                  <a:srgbClr val="8B2E2A"/>
                </a:solidFill>
                <a:latin typeface="Georgia"/>
              </a:rPr>
              <a:t>BACKUP · RESPONSIVENESS TO FEEDBACK</a:t>
            </a:r>
          </a:p>
        </p:txBody>
      </p:sp>
      <p:sp>
        <p:nvSpPr>
          <p:cNvPr id="4" name="Rectangle 3"/>
          <p:cNvSpPr/>
          <p:nvPr/>
        </p:nvSpPr>
        <p:spPr>
          <a:xfrm>
            <a:off x="566928" y="1371600"/>
            <a:ext cx="1097280" cy="38100"/>
          </a:xfrm>
          <a:prstGeom prst="rect">
            <a:avLst/>
          </a:prstGeom>
          <a:solidFill>
            <a:srgbClr val="B54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11155680" cy="365760"/>
          </a:xfrm>
          <a:prstGeom prst="rect">
            <a:avLst/>
          </a:prstGeom>
          <a:noFill/>
        </p:spPr>
        <p:txBody>
          <a:bodyPr wrap="square" lIns="45720" rIns="45720" tIns="27432" bIns="27432" anchor="t">
            <a:spAutoFit/>
          </a:bodyPr>
          <a:lstStyle/>
          <a:p>
            <a:pPr algn="l"/>
            <a:r>
              <a:rPr sz="1200" b="0" i="1">
                <a:solidFill>
                  <a:srgbClr val="6B6158"/>
                </a:solidFill>
                <a:latin typeface="Georgia"/>
              </a:rPr>
              <a:t>What changed in this deck compared to earlier drafts and peer-review feedback.</a:t>
            </a:r>
          </a:p>
        </p:txBody>
      </p:sp>
      <p:sp>
        <p:nvSpPr>
          <p:cNvPr id="6" name="Rectangle 5"/>
          <p:cNvSpPr/>
          <p:nvPr/>
        </p:nvSpPr>
        <p:spPr>
          <a:xfrm>
            <a:off x="548640" y="1828800"/>
            <a:ext cx="11155680" cy="411480"/>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4023360" cy="274320"/>
          </a:xfrm>
          <a:prstGeom prst="rect">
            <a:avLst/>
          </a:prstGeom>
          <a:noFill/>
        </p:spPr>
        <p:txBody>
          <a:bodyPr wrap="square" lIns="45720" rIns="45720" tIns="27432" bIns="27432" anchor="t">
            <a:spAutoFit/>
          </a:bodyPr>
          <a:lstStyle/>
          <a:p>
            <a:pPr algn="l"/>
            <a:r>
              <a:rPr sz="1000" b="1" i="0">
                <a:solidFill>
                  <a:srgbClr val="B5443D"/>
                </a:solidFill>
                <a:latin typeface="Calibri"/>
              </a:rPr>
              <a:t>FEEDBACK</a:t>
            </a:r>
          </a:p>
        </p:txBody>
      </p:sp>
      <p:sp>
        <p:nvSpPr>
          <p:cNvPr id="8" name="TextBox 7"/>
          <p:cNvSpPr txBox="1"/>
          <p:nvPr/>
        </p:nvSpPr>
        <p:spPr>
          <a:xfrm>
            <a:off x="4754880" y="1920240"/>
            <a:ext cx="5486400" cy="274320"/>
          </a:xfrm>
          <a:prstGeom prst="rect">
            <a:avLst/>
          </a:prstGeom>
          <a:noFill/>
        </p:spPr>
        <p:txBody>
          <a:bodyPr wrap="square" lIns="45720" rIns="45720" tIns="27432" bIns="27432" anchor="t">
            <a:spAutoFit/>
          </a:bodyPr>
          <a:lstStyle/>
          <a:p>
            <a:pPr algn="l"/>
            <a:r>
              <a:rPr sz="1000" b="1" i="0">
                <a:solidFill>
                  <a:srgbClr val="B5443D"/>
                </a:solidFill>
                <a:latin typeface="Calibri"/>
              </a:rPr>
              <a:t>OUR RESPONSE</a:t>
            </a:r>
          </a:p>
        </p:txBody>
      </p:sp>
      <p:sp>
        <p:nvSpPr>
          <p:cNvPr id="9" name="TextBox 8"/>
          <p:cNvSpPr txBox="1"/>
          <p:nvPr/>
        </p:nvSpPr>
        <p:spPr>
          <a:xfrm>
            <a:off x="10241280" y="1920240"/>
            <a:ext cx="1645920" cy="274320"/>
          </a:xfrm>
          <a:prstGeom prst="rect">
            <a:avLst/>
          </a:prstGeom>
          <a:noFill/>
        </p:spPr>
        <p:txBody>
          <a:bodyPr wrap="square" lIns="45720" rIns="45720" tIns="27432" bIns="27432" anchor="t">
            <a:spAutoFit/>
          </a:bodyPr>
          <a:lstStyle/>
          <a:p>
            <a:pPr algn="l"/>
            <a:r>
              <a:rPr sz="1000" b="1" i="0">
                <a:solidFill>
                  <a:srgbClr val="B5443D"/>
                </a:solidFill>
                <a:latin typeface="Calibri"/>
              </a:rPr>
              <a:t>WHERE</a:t>
            </a:r>
          </a:p>
        </p:txBody>
      </p:sp>
      <p:sp>
        <p:nvSpPr>
          <p:cNvPr id="10" name="Rectangle 9"/>
          <p:cNvSpPr/>
          <p:nvPr/>
        </p:nvSpPr>
        <p:spPr>
          <a:xfrm>
            <a:off x="548640" y="2240280"/>
            <a:ext cx="11155680" cy="685800"/>
          </a:xfrm>
          <a:prstGeom prst="rect">
            <a:avLst/>
          </a:prstGeom>
          <a:solidFill>
            <a:srgbClr val="FAF7EF"/>
          </a:solidFill>
          <a:ln w="6350">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77440"/>
            <a:ext cx="4023360" cy="502920"/>
          </a:xfrm>
          <a:prstGeom prst="rect">
            <a:avLst/>
          </a:prstGeom>
          <a:noFill/>
        </p:spPr>
        <p:txBody>
          <a:bodyPr wrap="square" lIns="45720" rIns="45720" tIns="27432" bIns="27432" anchor="t">
            <a:spAutoFit/>
          </a:bodyPr>
          <a:lstStyle/>
          <a:p>
            <a:pPr algn="l"/>
            <a:r>
              <a:rPr sz="1000" b="0" i="0">
                <a:solidFill>
                  <a:srgbClr val="1F1F1F"/>
                </a:solidFill>
                <a:latin typeface="Calibri"/>
              </a:rPr>
              <a:t>Earlier drafts buried the problem statement.</a:t>
            </a:r>
          </a:p>
        </p:txBody>
      </p:sp>
      <p:sp>
        <p:nvSpPr>
          <p:cNvPr id="12" name="TextBox 11"/>
          <p:cNvSpPr txBox="1"/>
          <p:nvPr/>
        </p:nvSpPr>
        <p:spPr>
          <a:xfrm>
            <a:off x="4754880" y="2377440"/>
            <a:ext cx="5486400" cy="502920"/>
          </a:xfrm>
          <a:prstGeom prst="rect">
            <a:avLst/>
          </a:prstGeom>
          <a:noFill/>
        </p:spPr>
        <p:txBody>
          <a:bodyPr wrap="square" lIns="45720" rIns="45720" tIns="27432" bIns="27432" anchor="t">
            <a:spAutoFit/>
          </a:bodyPr>
          <a:lstStyle/>
          <a:p>
            <a:pPr algn="l"/>
            <a:r>
              <a:rPr sz="1000" b="0" i="0">
                <a:solidFill>
                  <a:srgbClr val="1F1F1F"/>
                </a:solidFill>
                <a:latin typeface="Calibri"/>
              </a:rPr>
              <a:t>Slide 2 now opens with the headline number and the stakes bullets.</a:t>
            </a:r>
          </a:p>
        </p:txBody>
      </p:sp>
      <p:sp>
        <p:nvSpPr>
          <p:cNvPr id="13" name="TextBox 12"/>
          <p:cNvSpPr txBox="1"/>
          <p:nvPr/>
        </p:nvSpPr>
        <p:spPr>
          <a:xfrm>
            <a:off x="10241280" y="2377440"/>
            <a:ext cx="1645920" cy="502920"/>
          </a:xfrm>
          <a:prstGeom prst="rect">
            <a:avLst/>
          </a:prstGeom>
          <a:noFill/>
        </p:spPr>
        <p:txBody>
          <a:bodyPr wrap="square" lIns="45720" rIns="45720" tIns="27432" bIns="27432" anchor="t">
            <a:spAutoFit/>
          </a:bodyPr>
          <a:lstStyle/>
          <a:p>
            <a:pPr algn="l"/>
            <a:r>
              <a:rPr sz="1000" b="1" i="0">
                <a:solidFill>
                  <a:srgbClr val="8B2E2A"/>
                </a:solidFill>
                <a:latin typeface="Georgia"/>
              </a:rPr>
              <a:t>Slide 2</a:t>
            </a:r>
          </a:p>
        </p:txBody>
      </p:sp>
      <p:sp>
        <p:nvSpPr>
          <p:cNvPr id="14" name="Rectangle 13"/>
          <p:cNvSpPr/>
          <p:nvPr/>
        </p:nvSpPr>
        <p:spPr>
          <a:xfrm>
            <a:off x="548640" y="2926080"/>
            <a:ext cx="11155680" cy="685800"/>
          </a:xfrm>
          <a:prstGeom prst="rect">
            <a:avLst/>
          </a:prstGeom>
          <a:solidFill>
            <a:srgbClr val="F2EEE4"/>
          </a:solidFill>
          <a:ln w="6350">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63240"/>
            <a:ext cx="4023360" cy="502920"/>
          </a:xfrm>
          <a:prstGeom prst="rect">
            <a:avLst/>
          </a:prstGeom>
          <a:noFill/>
        </p:spPr>
        <p:txBody>
          <a:bodyPr wrap="square" lIns="45720" rIns="45720" tIns="27432" bIns="27432" anchor="t">
            <a:spAutoFit/>
          </a:bodyPr>
          <a:lstStyle/>
          <a:p>
            <a:pPr algn="l"/>
            <a:r>
              <a:rPr sz="1000" b="0" i="0">
                <a:solidFill>
                  <a:srgbClr val="1F1F1F"/>
                </a:solidFill>
                <a:latin typeface="Calibri"/>
              </a:rPr>
              <a:t>Peer team asked for a clearer pipeline diagram.</a:t>
            </a:r>
          </a:p>
        </p:txBody>
      </p:sp>
      <p:sp>
        <p:nvSpPr>
          <p:cNvPr id="16" name="TextBox 15"/>
          <p:cNvSpPr txBox="1"/>
          <p:nvPr/>
        </p:nvSpPr>
        <p:spPr>
          <a:xfrm>
            <a:off x="4754880" y="3063240"/>
            <a:ext cx="5486400" cy="502920"/>
          </a:xfrm>
          <a:prstGeom prst="rect">
            <a:avLst/>
          </a:prstGeom>
          <a:noFill/>
        </p:spPr>
        <p:txBody>
          <a:bodyPr wrap="square" lIns="45720" rIns="45720" tIns="27432" bIns="27432" anchor="t">
            <a:spAutoFit/>
          </a:bodyPr>
          <a:lstStyle/>
          <a:p>
            <a:pPr algn="l"/>
            <a:r>
              <a:rPr sz="1000" b="0" i="0">
                <a:solidFill>
                  <a:srgbClr val="1F1F1F"/>
                </a:solidFill>
                <a:latin typeface="Calibri"/>
              </a:rPr>
              <a:t>Added a dedicated 4-stage pipeline with arrows and short captions.</a:t>
            </a:r>
          </a:p>
        </p:txBody>
      </p:sp>
      <p:sp>
        <p:nvSpPr>
          <p:cNvPr id="17" name="TextBox 16"/>
          <p:cNvSpPr txBox="1"/>
          <p:nvPr/>
        </p:nvSpPr>
        <p:spPr>
          <a:xfrm>
            <a:off x="10241280" y="3063240"/>
            <a:ext cx="1645920" cy="502920"/>
          </a:xfrm>
          <a:prstGeom prst="rect">
            <a:avLst/>
          </a:prstGeom>
          <a:noFill/>
        </p:spPr>
        <p:txBody>
          <a:bodyPr wrap="square" lIns="45720" rIns="45720" tIns="27432" bIns="27432" anchor="t">
            <a:spAutoFit/>
          </a:bodyPr>
          <a:lstStyle/>
          <a:p>
            <a:pPr algn="l"/>
            <a:r>
              <a:rPr sz="1000" b="1" i="0">
                <a:solidFill>
                  <a:srgbClr val="8B2E2A"/>
                </a:solidFill>
                <a:latin typeface="Georgia"/>
              </a:rPr>
              <a:t>Slide 4</a:t>
            </a:r>
          </a:p>
        </p:txBody>
      </p:sp>
      <p:sp>
        <p:nvSpPr>
          <p:cNvPr id="18" name="Rectangle 17"/>
          <p:cNvSpPr/>
          <p:nvPr/>
        </p:nvSpPr>
        <p:spPr>
          <a:xfrm>
            <a:off x="548640" y="3611880"/>
            <a:ext cx="11155680" cy="685800"/>
          </a:xfrm>
          <a:prstGeom prst="rect">
            <a:avLst/>
          </a:prstGeom>
          <a:solidFill>
            <a:srgbClr val="FAF7EF"/>
          </a:solidFill>
          <a:ln w="6350">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749040"/>
            <a:ext cx="4023360" cy="502920"/>
          </a:xfrm>
          <a:prstGeom prst="rect">
            <a:avLst/>
          </a:prstGeom>
          <a:noFill/>
        </p:spPr>
        <p:txBody>
          <a:bodyPr wrap="square" lIns="45720" rIns="45720" tIns="27432" bIns="27432" anchor="t">
            <a:spAutoFit/>
          </a:bodyPr>
          <a:lstStyle/>
          <a:p>
            <a:pPr algn="l"/>
            <a:r>
              <a:rPr sz="1000" b="0" i="0">
                <a:solidFill>
                  <a:srgbClr val="1F1F1F"/>
                </a:solidFill>
                <a:latin typeface="Calibri"/>
              </a:rPr>
              <a:t>Reviewers wanted evidence, not just claims.</a:t>
            </a:r>
          </a:p>
        </p:txBody>
      </p:sp>
      <p:sp>
        <p:nvSpPr>
          <p:cNvPr id="20" name="TextBox 19"/>
          <p:cNvSpPr txBox="1"/>
          <p:nvPr/>
        </p:nvSpPr>
        <p:spPr>
          <a:xfrm>
            <a:off x="4754880" y="3749040"/>
            <a:ext cx="5486400" cy="502920"/>
          </a:xfrm>
          <a:prstGeom prst="rect">
            <a:avLst/>
          </a:prstGeom>
          <a:noFill/>
        </p:spPr>
        <p:txBody>
          <a:bodyPr wrap="square" lIns="45720" rIns="45720" tIns="27432" bIns="27432" anchor="t">
            <a:spAutoFit/>
          </a:bodyPr>
          <a:lstStyle/>
          <a:p>
            <a:pPr algn="l"/>
            <a:r>
              <a:rPr sz="1000" b="0" i="0">
                <a:solidFill>
                  <a:srgbClr val="1F1F1F"/>
                </a:solidFill>
                <a:latin typeface="Calibri"/>
              </a:rPr>
              <a:t>Added an explicit results slide with metric cards and a 'what we care about' callout.</a:t>
            </a:r>
          </a:p>
        </p:txBody>
      </p:sp>
      <p:sp>
        <p:nvSpPr>
          <p:cNvPr id="21" name="TextBox 20"/>
          <p:cNvSpPr txBox="1"/>
          <p:nvPr/>
        </p:nvSpPr>
        <p:spPr>
          <a:xfrm>
            <a:off x="10241280" y="3749040"/>
            <a:ext cx="1645920" cy="502920"/>
          </a:xfrm>
          <a:prstGeom prst="rect">
            <a:avLst/>
          </a:prstGeom>
          <a:noFill/>
        </p:spPr>
        <p:txBody>
          <a:bodyPr wrap="square" lIns="45720" rIns="45720" tIns="27432" bIns="27432" anchor="t">
            <a:spAutoFit/>
          </a:bodyPr>
          <a:lstStyle/>
          <a:p>
            <a:pPr algn="l"/>
            <a:r>
              <a:rPr sz="1000" b="1" i="0">
                <a:solidFill>
                  <a:srgbClr val="8B2E2A"/>
                </a:solidFill>
                <a:latin typeface="Georgia"/>
              </a:rPr>
              <a:t>Slide 8</a:t>
            </a:r>
          </a:p>
        </p:txBody>
      </p:sp>
      <p:sp>
        <p:nvSpPr>
          <p:cNvPr id="22" name="Rectangle 21"/>
          <p:cNvSpPr/>
          <p:nvPr/>
        </p:nvSpPr>
        <p:spPr>
          <a:xfrm>
            <a:off x="548640" y="4297680"/>
            <a:ext cx="11155680" cy="685800"/>
          </a:xfrm>
          <a:prstGeom prst="rect">
            <a:avLst/>
          </a:prstGeom>
          <a:solidFill>
            <a:srgbClr val="F2EEE4"/>
          </a:solidFill>
          <a:ln w="6350">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434840"/>
            <a:ext cx="4023360" cy="502920"/>
          </a:xfrm>
          <a:prstGeom prst="rect">
            <a:avLst/>
          </a:prstGeom>
          <a:noFill/>
        </p:spPr>
        <p:txBody>
          <a:bodyPr wrap="square" lIns="45720" rIns="45720" tIns="27432" bIns="27432" anchor="t">
            <a:spAutoFit/>
          </a:bodyPr>
          <a:lstStyle/>
          <a:p>
            <a:pPr algn="l"/>
            <a:r>
              <a:rPr sz="1000" b="0" i="0">
                <a:solidFill>
                  <a:srgbClr val="1F1F1F"/>
                </a:solidFill>
                <a:latin typeface="Calibri"/>
              </a:rPr>
              <a:t>Previous plan had no time budget for the talk.</a:t>
            </a:r>
          </a:p>
        </p:txBody>
      </p:sp>
      <p:sp>
        <p:nvSpPr>
          <p:cNvPr id="24" name="TextBox 23"/>
          <p:cNvSpPr txBox="1"/>
          <p:nvPr/>
        </p:nvSpPr>
        <p:spPr>
          <a:xfrm>
            <a:off x="4754880" y="4434840"/>
            <a:ext cx="5486400" cy="502920"/>
          </a:xfrm>
          <a:prstGeom prst="rect">
            <a:avLst/>
          </a:prstGeom>
          <a:noFill/>
        </p:spPr>
        <p:txBody>
          <a:bodyPr wrap="square" lIns="45720" rIns="45720" tIns="27432" bIns="27432" anchor="t">
            <a:spAutoFit/>
          </a:bodyPr>
          <a:lstStyle/>
          <a:p>
            <a:pPr algn="l"/>
            <a:r>
              <a:rPr sz="1000" b="0" i="0">
                <a:solidFill>
                  <a:srgbClr val="1F1F1F"/>
                </a:solidFill>
                <a:latin typeface="Calibri"/>
              </a:rPr>
              <a:t>Speaker notes now carry per-slide time budgets and the script.</a:t>
            </a:r>
          </a:p>
        </p:txBody>
      </p:sp>
      <p:sp>
        <p:nvSpPr>
          <p:cNvPr id="25" name="TextBox 24"/>
          <p:cNvSpPr txBox="1"/>
          <p:nvPr/>
        </p:nvSpPr>
        <p:spPr>
          <a:xfrm>
            <a:off x="10241280" y="4434840"/>
            <a:ext cx="1645920" cy="502920"/>
          </a:xfrm>
          <a:prstGeom prst="rect">
            <a:avLst/>
          </a:prstGeom>
          <a:noFill/>
        </p:spPr>
        <p:txBody>
          <a:bodyPr wrap="square" lIns="45720" rIns="45720" tIns="27432" bIns="27432" anchor="t">
            <a:spAutoFit/>
          </a:bodyPr>
          <a:lstStyle/>
          <a:p>
            <a:pPr algn="l"/>
            <a:r>
              <a:rPr sz="1000" b="1" i="0">
                <a:solidFill>
                  <a:srgbClr val="8B2E2A"/>
                </a:solidFill>
                <a:latin typeface="Georgia"/>
              </a:rPr>
              <a:t>All slides · Notes</a:t>
            </a:r>
          </a:p>
        </p:txBody>
      </p:sp>
      <p:sp>
        <p:nvSpPr>
          <p:cNvPr id="26" name="Rectangle 25"/>
          <p:cNvSpPr/>
          <p:nvPr/>
        </p:nvSpPr>
        <p:spPr>
          <a:xfrm>
            <a:off x="548640" y="4983480"/>
            <a:ext cx="11155680" cy="685800"/>
          </a:xfrm>
          <a:prstGeom prst="rect">
            <a:avLst/>
          </a:prstGeom>
          <a:solidFill>
            <a:srgbClr val="FAF7EF"/>
          </a:solidFill>
          <a:ln w="6350">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120640"/>
            <a:ext cx="4023360" cy="502920"/>
          </a:xfrm>
          <a:prstGeom prst="rect">
            <a:avLst/>
          </a:prstGeom>
          <a:noFill/>
        </p:spPr>
        <p:txBody>
          <a:bodyPr wrap="square" lIns="45720" rIns="45720" tIns="27432" bIns="27432" anchor="t">
            <a:spAutoFit/>
          </a:bodyPr>
          <a:lstStyle/>
          <a:p>
            <a:pPr algn="l"/>
            <a:r>
              <a:rPr sz="1000" b="0" i="0">
                <a:solidFill>
                  <a:srgbClr val="1F1F1F"/>
                </a:solidFill>
                <a:latin typeface="Calibri"/>
              </a:rPr>
              <a:t>Partner asked how we would handle Q&amp;A on accuracy.</a:t>
            </a:r>
          </a:p>
        </p:txBody>
      </p:sp>
      <p:sp>
        <p:nvSpPr>
          <p:cNvPr id="28" name="TextBox 27"/>
          <p:cNvSpPr txBox="1"/>
          <p:nvPr/>
        </p:nvSpPr>
        <p:spPr>
          <a:xfrm>
            <a:off x="4754880" y="5120640"/>
            <a:ext cx="5486400" cy="502920"/>
          </a:xfrm>
          <a:prstGeom prst="rect">
            <a:avLst/>
          </a:prstGeom>
          <a:noFill/>
        </p:spPr>
        <p:txBody>
          <a:bodyPr wrap="square" lIns="45720" rIns="45720" tIns="27432" bIns="27432" anchor="t">
            <a:spAutoFit/>
          </a:bodyPr>
          <a:lstStyle/>
          <a:p>
            <a:pPr algn="l"/>
            <a:r>
              <a:rPr sz="1000" b="0" i="0">
                <a:solidFill>
                  <a:srgbClr val="1F1F1F"/>
                </a:solidFill>
                <a:latin typeface="Calibri"/>
              </a:rPr>
              <a:t>Pre-wrote answers for six likely questions, especially hallucination.</a:t>
            </a:r>
          </a:p>
        </p:txBody>
      </p:sp>
      <p:sp>
        <p:nvSpPr>
          <p:cNvPr id="29" name="TextBox 28"/>
          <p:cNvSpPr txBox="1"/>
          <p:nvPr/>
        </p:nvSpPr>
        <p:spPr>
          <a:xfrm>
            <a:off x="10241280" y="5120640"/>
            <a:ext cx="1645920" cy="502920"/>
          </a:xfrm>
          <a:prstGeom prst="rect">
            <a:avLst/>
          </a:prstGeom>
          <a:noFill/>
        </p:spPr>
        <p:txBody>
          <a:bodyPr wrap="square" lIns="45720" rIns="45720" tIns="27432" bIns="27432" anchor="t">
            <a:spAutoFit/>
          </a:bodyPr>
          <a:lstStyle/>
          <a:p>
            <a:pPr algn="l"/>
            <a:r>
              <a:rPr sz="1000" b="1" i="0">
                <a:solidFill>
                  <a:srgbClr val="8B2E2A"/>
                </a:solidFill>
                <a:latin typeface="Georgia"/>
              </a:rPr>
              <a:t>Slide 12</a:t>
            </a:r>
          </a:p>
        </p:txBody>
      </p:sp>
      <p:sp>
        <p:nvSpPr>
          <p:cNvPr id="30" name="Rectangle 29"/>
          <p:cNvSpPr/>
          <p:nvPr/>
        </p:nvSpPr>
        <p:spPr>
          <a:xfrm>
            <a:off x="548640" y="5669280"/>
            <a:ext cx="11155680" cy="685800"/>
          </a:xfrm>
          <a:prstGeom prst="rect">
            <a:avLst/>
          </a:prstGeom>
          <a:solidFill>
            <a:srgbClr val="F2EEE4"/>
          </a:solidFill>
          <a:ln w="6350">
            <a:solidFill>
              <a:srgbClr val="D9D1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806440"/>
            <a:ext cx="4023360" cy="502920"/>
          </a:xfrm>
          <a:prstGeom prst="rect">
            <a:avLst/>
          </a:prstGeom>
          <a:noFill/>
        </p:spPr>
        <p:txBody>
          <a:bodyPr wrap="square" lIns="45720" rIns="45720" tIns="27432" bIns="27432" anchor="t">
            <a:spAutoFit/>
          </a:bodyPr>
          <a:lstStyle/>
          <a:p>
            <a:pPr algn="l"/>
            <a:r>
              <a:rPr sz="1000" b="0" i="0">
                <a:solidFill>
                  <a:srgbClr val="1F1F1F"/>
                </a:solidFill>
                <a:latin typeface="Calibri"/>
              </a:rPr>
              <a:t>Instructor asked for a clearer handoff moment.</a:t>
            </a:r>
          </a:p>
        </p:txBody>
      </p:sp>
      <p:sp>
        <p:nvSpPr>
          <p:cNvPr id="32" name="TextBox 31"/>
          <p:cNvSpPr txBox="1"/>
          <p:nvPr/>
        </p:nvSpPr>
        <p:spPr>
          <a:xfrm>
            <a:off x="4754880" y="5806440"/>
            <a:ext cx="5486400" cy="502920"/>
          </a:xfrm>
          <a:prstGeom prst="rect">
            <a:avLst/>
          </a:prstGeom>
          <a:noFill/>
        </p:spPr>
        <p:txBody>
          <a:bodyPr wrap="square" lIns="45720" rIns="45720" tIns="27432" bIns="27432" anchor="t">
            <a:spAutoFit/>
          </a:bodyPr>
          <a:lstStyle/>
          <a:p>
            <a:pPr algn="l"/>
            <a:r>
              <a:rPr sz="1000" b="0" i="0">
                <a:solidFill>
                  <a:srgbClr val="1F1F1F"/>
                </a:solidFill>
                <a:latin typeface="Calibri"/>
              </a:rPr>
              <a:t>Added an explicit 'what the Clearinghouse gets' slide before the thank you.</a:t>
            </a:r>
          </a:p>
        </p:txBody>
      </p:sp>
      <p:sp>
        <p:nvSpPr>
          <p:cNvPr id="33" name="TextBox 32"/>
          <p:cNvSpPr txBox="1"/>
          <p:nvPr/>
        </p:nvSpPr>
        <p:spPr>
          <a:xfrm>
            <a:off x="10241280" y="5806440"/>
            <a:ext cx="1645920" cy="502920"/>
          </a:xfrm>
          <a:prstGeom prst="rect">
            <a:avLst/>
          </a:prstGeom>
          <a:noFill/>
        </p:spPr>
        <p:txBody>
          <a:bodyPr wrap="square" lIns="45720" rIns="45720" tIns="27432" bIns="27432" anchor="t">
            <a:spAutoFit/>
          </a:bodyPr>
          <a:lstStyle/>
          <a:p>
            <a:pPr algn="l"/>
            <a:r>
              <a:rPr sz="1000" b="1" i="0">
                <a:solidFill>
                  <a:srgbClr val="8B2E2A"/>
                </a:solidFill>
                <a:latin typeface="Georgia"/>
              </a:rPr>
              <a:t>Slide 9</a:t>
            </a:r>
          </a:p>
        </p:txBody>
      </p:sp>
      <p:sp>
        <p:nvSpPr>
          <p:cNvPr id="34" name="Rectangle 33"/>
          <p:cNvSpPr/>
          <p:nvPr/>
        </p:nvSpPr>
        <p:spPr>
          <a:xfrm>
            <a:off x="0" y="6693408"/>
            <a:ext cx="12191695" cy="164592"/>
          </a:xfrm>
          <a:prstGeom prst="rect">
            <a:avLst/>
          </a:prstGeom>
          <a:solidFill>
            <a:srgbClr val="8B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446520"/>
            <a:ext cx="8229600" cy="228600"/>
          </a:xfrm>
          <a:prstGeom prst="rect">
            <a:avLst/>
          </a:prstGeom>
          <a:noFill/>
        </p:spPr>
        <p:txBody>
          <a:bodyPr wrap="square" lIns="45720" rIns="45720" tIns="27432" bIns="27432" anchor="t">
            <a:spAutoFit/>
          </a:bodyPr>
          <a:lstStyle/>
          <a:p>
            <a:pPr algn="l"/>
            <a:r>
              <a:rPr sz="900" b="0" i="0">
                <a:solidFill>
                  <a:srgbClr val="6B6158"/>
                </a:solidFill>
                <a:latin typeface="Calibri"/>
              </a:rPr>
              <a:t>Civil Rights Summarized AI  ·  CMSE 495 Capstone  ·  Spring 2026</a:t>
            </a:r>
          </a:p>
        </p:txBody>
      </p:sp>
      <p:sp>
        <p:nvSpPr>
          <p:cNvPr id="36" name="TextBox 35"/>
          <p:cNvSpPr txBox="1"/>
          <p:nvPr/>
        </p:nvSpPr>
        <p:spPr>
          <a:xfrm>
            <a:off x="10515600" y="6446520"/>
            <a:ext cx="1371600" cy="228600"/>
          </a:xfrm>
          <a:prstGeom prst="rect">
            <a:avLst/>
          </a:prstGeom>
          <a:noFill/>
        </p:spPr>
        <p:txBody>
          <a:bodyPr wrap="square" lIns="45720" rIns="45720" tIns="27432" bIns="27432" anchor="t">
            <a:spAutoFit/>
          </a:bodyPr>
          <a:lstStyle/>
          <a:p>
            <a:pPr algn="r"/>
            <a:r>
              <a:rPr sz="900" b="1" i="0">
                <a:solidFill>
                  <a:srgbClr val="6B6158"/>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